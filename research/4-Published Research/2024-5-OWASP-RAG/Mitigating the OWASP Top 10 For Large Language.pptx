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5" r:id="rId10"/>
    <p:sldId id="266" r:id="rId11"/>
    <p:sldId id="267" r:id="rId12"/>
    <p:sldId id="269"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CCB871-8E38-41C7-80BA-F2BA4CA557DE}" type="datetimeFigureOut">
              <a:rPr lang="en-US" smtClean="0"/>
              <a:t>2/28/2024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2406F4-43E7-491B-AF93-1CD46E68A1F0}" type="slidenum">
              <a:rPr lang="en-US" smtClean="0"/>
              <a:t>‹#›</a:t>
            </a:fld>
            <a:endParaRPr lang="en-US"/>
          </a:p>
        </p:txBody>
      </p:sp>
    </p:spTree>
    <p:extLst>
      <p:ext uri="{BB962C8B-B14F-4D97-AF65-F5344CB8AC3E}">
        <p14:creationId xmlns:p14="http://schemas.microsoft.com/office/powerpoint/2010/main" val="1279834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3865D-96B6-B189-58F2-55C31432DC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2B0DB0-0CBD-5192-04A2-3383C7C795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FBEFD1-9FF4-DEC7-40AE-FFF590C5DC23}"/>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5" name="Footer Placeholder 4">
            <a:extLst>
              <a:ext uri="{FF2B5EF4-FFF2-40B4-BE49-F238E27FC236}">
                <a16:creationId xmlns:a16="http://schemas.microsoft.com/office/drawing/2014/main" id="{E0F1BB2B-C98D-1152-6884-2DEE2830C9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88F128-21CB-F00B-85A2-61A4ABD0C684}"/>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107801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BE075-EC5F-7086-EA6D-267791834C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B76B79-5D6C-0EC3-94FC-9569A77252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955373-7300-58AB-D02E-3A5D93FFE629}"/>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5" name="Footer Placeholder 4">
            <a:extLst>
              <a:ext uri="{FF2B5EF4-FFF2-40B4-BE49-F238E27FC236}">
                <a16:creationId xmlns:a16="http://schemas.microsoft.com/office/drawing/2014/main" id="{7DCC7816-AB53-A9FF-A0B3-698E377510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7E51C0-DA59-1B1D-161A-C9BC9E3026CE}"/>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2392082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7961-53D8-8BE5-DDD1-D93C5A0B32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122C20-7840-B378-EE64-FF151624CE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77FE12-3524-3B9A-0B67-EF533891B5BF}"/>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5" name="Footer Placeholder 4">
            <a:extLst>
              <a:ext uri="{FF2B5EF4-FFF2-40B4-BE49-F238E27FC236}">
                <a16:creationId xmlns:a16="http://schemas.microsoft.com/office/drawing/2014/main" id="{27473388-0D98-6548-F27B-938F75AE0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DE681-FABD-90C0-37AB-501932AC30EB}"/>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3881687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C535-413C-B7D2-351E-05F7F0D442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847D9E-DF36-BA1F-6C11-6D127F0225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F64723-204C-E349-B764-E73BC18F21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11155F-A4A3-B597-D1AC-47664208DF9B}"/>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6" name="Footer Placeholder 5">
            <a:extLst>
              <a:ext uri="{FF2B5EF4-FFF2-40B4-BE49-F238E27FC236}">
                <a16:creationId xmlns:a16="http://schemas.microsoft.com/office/drawing/2014/main" id="{36A260BE-9936-E5F5-4198-BDD3C365A9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BD1F9B-AEDD-E382-4AB4-3AE04A15FE60}"/>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2990835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45C4-AE1C-19EC-36F2-3862811AF8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B07B3F-0DF5-CFA5-DB8C-0EF2965B5A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A62CB5-4527-4CA8-9222-812CF8DDAF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554CB8-BE23-0BB4-AE26-7A3E452601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54E5EE-E8E0-C7D2-A543-827A860EBF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01244C-2BF7-13CC-C281-B2373F8BD1C7}"/>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8" name="Footer Placeholder 7">
            <a:extLst>
              <a:ext uri="{FF2B5EF4-FFF2-40B4-BE49-F238E27FC236}">
                <a16:creationId xmlns:a16="http://schemas.microsoft.com/office/drawing/2014/main" id="{1A09FE76-9C0F-6897-72BB-55761C5CE9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F51E69A-07E8-AA42-EEF4-A000C64E69F1}"/>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2297354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98071-075B-8E25-F9CA-F570EF9774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F2AC63-6A95-68AB-16AD-6F0E28F57D66}"/>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4" name="Footer Placeholder 3">
            <a:extLst>
              <a:ext uri="{FF2B5EF4-FFF2-40B4-BE49-F238E27FC236}">
                <a16:creationId xmlns:a16="http://schemas.microsoft.com/office/drawing/2014/main" id="{8C988C88-E67E-C0E4-9088-B07E712FBD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6D8108-9FF6-54D6-7C4F-0FB0B833BA07}"/>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17879864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13982-A641-5A1B-8901-98C90460B7E7}"/>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3" name="Footer Placeholder 2">
            <a:extLst>
              <a:ext uri="{FF2B5EF4-FFF2-40B4-BE49-F238E27FC236}">
                <a16:creationId xmlns:a16="http://schemas.microsoft.com/office/drawing/2014/main" id="{30089C61-34B2-E0D4-E7D4-E9712F5ACD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6923C0-5C48-1E85-056F-A9C3283DD956}"/>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1539671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049FD-BA1A-BD3C-473D-2206E8AF7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71B929-9044-462B-BEDD-612B67479F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1DB642-37B8-C2E7-D202-15BCCBAF2E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9CCE6E-8AF2-1257-9B55-9D88F1490DFE}"/>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6" name="Footer Placeholder 5">
            <a:extLst>
              <a:ext uri="{FF2B5EF4-FFF2-40B4-BE49-F238E27FC236}">
                <a16:creationId xmlns:a16="http://schemas.microsoft.com/office/drawing/2014/main" id="{736DF8D3-2974-5C3A-526D-DF092094B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38FE1F-CAB4-D507-2CA2-6297BC62A02B}"/>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4279531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65BA5-8BDA-A4F3-72D0-0D21112F1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9CEA28-64E6-A3EB-27D2-5A5198BFD0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683918-6A13-94F9-DED2-3E02276FE8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F0CCA6-74E4-C4EA-B5BB-02D27005DE28}"/>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6" name="Footer Placeholder 5">
            <a:extLst>
              <a:ext uri="{FF2B5EF4-FFF2-40B4-BE49-F238E27FC236}">
                <a16:creationId xmlns:a16="http://schemas.microsoft.com/office/drawing/2014/main" id="{DFF305B0-CC88-2C13-6FDC-FF03B3A74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A2D4E0-A93F-33B3-CB8F-3E3B10DF1E23}"/>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3885907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FB0C3-B0BA-B5D0-9DCC-A1203CC581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20B9BE-434D-34B6-A3E6-0F43D9F7C0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98DA26-2D47-6497-8890-655AA9E8AA9D}"/>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5" name="Footer Placeholder 4">
            <a:extLst>
              <a:ext uri="{FF2B5EF4-FFF2-40B4-BE49-F238E27FC236}">
                <a16:creationId xmlns:a16="http://schemas.microsoft.com/office/drawing/2014/main" id="{EBDA1121-3901-A8EF-B932-204BB705CE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E4374A-2944-52AA-9BCE-C24A7F1A9A1C}"/>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127241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7BE13D-3D5B-DCBB-BCF3-9C72653BF15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746DF4-8780-CC2E-A24E-A8466784E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17071B-0879-2E8C-256C-BB9472212C9C}"/>
              </a:ext>
            </a:extLst>
          </p:cNvPr>
          <p:cNvSpPr>
            <a:spLocks noGrp="1"/>
          </p:cNvSpPr>
          <p:nvPr>
            <p:ph type="dt" sz="half" idx="10"/>
          </p:nvPr>
        </p:nvSpPr>
        <p:spPr/>
        <p:txBody>
          <a:bodyPr/>
          <a:lstStyle/>
          <a:p>
            <a:fld id="{EA2B063E-6AC8-4661-BD33-14C708AA856F}" type="datetimeFigureOut">
              <a:rPr lang="en-US" smtClean="0"/>
              <a:t>2/28/2024</a:t>
            </a:fld>
            <a:endParaRPr lang="en-US"/>
          </a:p>
        </p:txBody>
      </p:sp>
      <p:sp>
        <p:nvSpPr>
          <p:cNvPr id="5" name="Footer Placeholder 4">
            <a:extLst>
              <a:ext uri="{FF2B5EF4-FFF2-40B4-BE49-F238E27FC236}">
                <a16:creationId xmlns:a16="http://schemas.microsoft.com/office/drawing/2014/main" id="{F3FB9015-0D5E-4690-6A6F-5B27B5712A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011D8-5B92-C106-B7FA-7BA8F6E691BC}"/>
              </a:ext>
            </a:extLst>
          </p:cNvPr>
          <p:cNvSpPr>
            <a:spLocks noGrp="1"/>
          </p:cNvSpPr>
          <p:nvPr>
            <p:ph type="sldNum" sz="quarter" idx="12"/>
          </p:nvPr>
        </p:nvSpPr>
        <p:spPr/>
        <p:txBody>
          <a:bodyPr/>
          <a:lstStyle/>
          <a:p>
            <a:fld id="{2F199DB5-2E15-48B3-A19B-073A1581A459}" type="slidenum">
              <a:rPr lang="en-US" smtClean="0"/>
              <a:t>‹#›</a:t>
            </a:fld>
            <a:endParaRPr lang="en-US"/>
          </a:p>
        </p:txBody>
      </p:sp>
    </p:spTree>
    <p:extLst>
      <p:ext uri="{BB962C8B-B14F-4D97-AF65-F5344CB8AC3E}">
        <p14:creationId xmlns:p14="http://schemas.microsoft.com/office/powerpoint/2010/main" val="3100617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AA93D-F59E-0FF1-06EC-AF245C934F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0FA8348-AA24-A5B6-0CA1-774EFDB120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C9DE171-8762-129C-52D6-FE1371CB3A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2B063E-6AC8-4661-BD33-14C708AA856F}" type="datetimeFigureOut">
              <a:rPr lang="en-US" smtClean="0"/>
              <a:t>2/28/2024</a:t>
            </a:fld>
            <a:endParaRPr lang="en-US"/>
          </a:p>
        </p:txBody>
      </p:sp>
      <p:sp>
        <p:nvSpPr>
          <p:cNvPr id="5" name="Footer Placeholder 4">
            <a:extLst>
              <a:ext uri="{FF2B5EF4-FFF2-40B4-BE49-F238E27FC236}">
                <a16:creationId xmlns:a16="http://schemas.microsoft.com/office/drawing/2014/main" id="{9EF4DE8F-0A07-1D5E-05DB-34B59A48E7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EF60AB-6ADC-8257-BD49-1D90E31491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199DB5-2E15-48B3-A19B-073A1581A459}" type="slidenum">
              <a:rPr lang="en-US" smtClean="0"/>
              <a:t>‹#›</a:t>
            </a:fld>
            <a:endParaRPr lang="en-US"/>
          </a:p>
        </p:txBody>
      </p:sp>
    </p:spTree>
    <p:extLst>
      <p:ext uri="{BB962C8B-B14F-4D97-AF65-F5344CB8AC3E}">
        <p14:creationId xmlns:p14="http://schemas.microsoft.com/office/powerpoint/2010/main" val="3725363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B9C4-B313-D4F5-3487-4FFCB11ACBD4}"/>
              </a:ext>
            </a:extLst>
          </p:cNvPr>
          <p:cNvSpPr>
            <a:spLocks noGrp="1"/>
          </p:cNvSpPr>
          <p:nvPr>
            <p:ph type="ctrTitle"/>
          </p:nvPr>
        </p:nvSpPr>
        <p:spPr/>
        <p:txBody>
          <a:bodyPr>
            <a:noAutofit/>
          </a:bodyPr>
          <a:lstStyle/>
          <a:p>
            <a:r>
              <a:rPr lang="en-US" sz="3200" dirty="0"/>
              <a:t>Mitigating the OWASP Top 10 For Large Language Models Applications using Intelligent Agents</a:t>
            </a:r>
          </a:p>
        </p:txBody>
      </p:sp>
      <p:sp>
        <p:nvSpPr>
          <p:cNvPr id="3" name="Subtitle 2">
            <a:extLst>
              <a:ext uri="{FF2B5EF4-FFF2-40B4-BE49-F238E27FC236}">
                <a16:creationId xmlns:a16="http://schemas.microsoft.com/office/drawing/2014/main" id="{D85B33CE-46D7-FEBC-951D-0BF048090EE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01329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6452C-B05C-0D32-511C-F67E2803144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E69F599-0FB4-6144-DD30-36B0E668A146}"/>
              </a:ext>
            </a:extLst>
          </p:cNvPr>
          <p:cNvSpPr>
            <a:spLocks noGrp="1"/>
          </p:cNvSpPr>
          <p:nvPr>
            <p:ph idx="1"/>
          </p:nvPr>
        </p:nvSpPr>
        <p:spPr/>
        <p:txBody>
          <a:bodyPr>
            <a:normAutofit fontScale="85000" lnSpcReduction="20000"/>
          </a:bodyPr>
          <a:lstStyle/>
          <a:p>
            <a:r>
              <a:rPr lang="en-US" dirty="0"/>
              <a:t>Large Language Models (LLMs) have emerged as a transformative and disruptive technology, enabling a wide range of applications in natural language processing, machine translation, and beyond. </a:t>
            </a:r>
          </a:p>
          <a:p>
            <a:r>
              <a:rPr lang="en-US" dirty="0"/>
              <a:t>This widespread integration of LLMs also raised several security concerns highlighted by the Open Web Application Security Project (OWASP).</a:t>
            </a:r>
          </a:p>
          <a:p>
            <a:r>
              <a:rPr lang="en-US" dirty="0"/>
              <a:t>OWASP project has identified the top 10 security vulnerabilities inherent in LLM applications. </a:t>
            </a:r>
          </a:p>
          <a:p>
            <a:r>
              <a:rPr lang="en-US" dirty="0"/>
              <a:t>Addressing these vulnerabilities is crucial, given the increasing reliance on LLMs and the potential threats to data integrity, confidentiality, and service availability.</a:t>
            </a:r>
          </a:p>
          <a:p>
            <a:r>
              <a:rPr lang="en-US" dirty="0"/>
              <a:t>In our work, we presented a proposed framework that can assist in mitigating the security risks outlined in the OWASP Top 10. </a:t>
            </a:r>
          </a:p>
          <a:p>
            <a:r>
              <a:rPr lang="en-US" dirty="0"/>
              <a:t>Our proposed model leverages LLM-enabled intelligent agents, offering a new approach to proactively identify, assess, and counteract security threats in real-time.</a:t>
            </a:r>
          </a:p>
          <a:p>
            <a:r>
              <a:rPr lang="en-US" dirty="0"/>
              <a:t>The proposed framework serves as an initial blueprint for future research and development, aiming to enhance the security measures of LLMs and protect against emerging threats in this rapidly evolving landscape.</a:t>
            </a:r>
          </a:p>
        </p:txBody>
      </p:sp>
    </p:spTree>
    <p:extLst>
      <p:ext uri="{BB962C8B-B14F-4D97-AF65-F5344CB8AC3E}">
        <p14:creationId xmlns:p14="http://schemas.microsoft.com/office/powerpoint/2010/main" val="2002063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B37A2-2ECC-5395-B2AB-F2D83A56A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A440A-6D6C-9C2F-5BA4-B3672736F808}"/>
              </a:ext>
            </a:extLst>
          </p:cNvPr>
          <p:cNvSpPr>
            <a:spLocks noGrp="1"/>
          </p:cNvSpPr>
          <p:nvPr>
            <p:ph type="title"/>
          </p:nvPr>
        </p:nvSpPr>
        <p:spPr/>
        <p:txBody>
          <a:bodyPr>
            <a:normAutofit/>
          </a:bodyPr>
          <a:lstStyle/>
          <a:p>
            <a:r>
              <a:rPr lang="en-US" sz="3600" dirty="0"/>
              <a:t>The Open Web Application Security Project (OWASP) </a:t>
            </a:r>
          </a:p>
        </p:txBody>
      </p:sp>
      <p:sp>
        <p:nvSpPr>
          <p:cNvPr id="3" name="Content Placeholder 2">
            <a:extLst>
              <a:ext uri="{FF2B5EF4-FFF2-40B4-BE49-F238E27FC236}">
                <a16:creationId xmlns:a16="http://schemas.microsoft.com/office/drawing/2014/main" id="{298F8C65-D853-9317-650B-072B647825BF}"/>
              </a:ext>
            </a:extLst>
          </p:cNvPr>
          <p:cNvSpPr>
            <a:spLocks noGrp="1"/>
          </p:cNvSpPr>
          <p:nvPr>
            <p:ph idx="1"/>
          </p:nvPr>
        </p:nvSpPr>
        <p:spPr/>
        <p:txBody>
          <a:bodyPr>
            <a:normAutofit fontScale="92500" lnSpcReduction="10000"/>
          </a:bodyPr>
          <a:lstStyle/>
          <a:p>
            <a:r>
              <a:rPr lang="en-US" dirty="0"/>
              <a:t>The Open Web Application Security Project (OWASP) is a nonprofit organization dedicated to enhancing the security of software. </a:t>
            </a:r>
          </a:p>
          <a:p>
            <a:r>
              <a:rPr lang="en-US" dirty="0"/>
              <a:t>It provides free and open resources, tools, and community-driven educational content to help organizations and individuals identify and address security risks in web applications, with its most renowned resource being the </a:t>
            </a:r>
            <a:r>
              <a:rPr lang="en-US" dirty="0">
                <a:solidFill>
                  <a:srgbClr val="FF0000"/>
                </a:solidFill>
              </a:rPr>
              <a:t>OWASP Top 10 list, which outlines the most critical web application security threats.</a:t>
            </a:r>
          </a:p>
          <a:p>
            <a:r>
              <a:rPr lang="en-US" dirty="0"/>
              <a:t>In this respect, the Open Web Application Security Project (OWASP) </a:t>
            </a:r>
            <a:r>
              <a:rPr lang="en-US" dirty="0">
                <a:solidFill>
                  <a:srgbClr val="FF0000"/>
                </a:solidFill>
              </a:rPr>
              <a:t>has initiated a dedicated project to outline the top 10 security risks associated with Large Language Model (LLM) applications</a:t>
            </a:r>
            <a:r>
              <a:rPr lang="en-US" dirty="0"/>
              <a:t>. </a:t>
            </a:r>
          </a:p>
          <a:p>
            <a:r>
              <a:rPr lang="en-US" dirty="0"/>
              <a:t>This initiative, known as the OWASP Top 10 for Large Language Model Applications, </a:t>
            </a:r>
            <a:r>
              <a:rPr lang="en-US" dirty="0">
                <a:solidFill>
                  <a:srgbClr val="FF0000"/>
                </a:solidFill>
              </a:rPr>
              <a:t>aims to provide a comprehensive understanding of the potential security pitfalls that may arise during the deployment and management of LLMs</a:t>
            </a:r>
            <a:r>
              <a:rPr lang="en-US" dirty="0"/>
              <a:t>, thereby facilitating informed decisions to bolster security postures.</a:t>
            </a:r>
          </a:p>
          <a:p>
            <a:endParaRPr lang="en-US" dirty="0"/>
          </a:p>
        </p:txBody>
      </p:sp>
    </p:spTree>
    <p:extLst>
      <p:ext uri="{BB962C8B-B14F-4D97-AF65-F5344CB8AC3E}">
        <p14:creationId xmlns:p14="http://schemas.microsoft.com/office/powerpoint/2010/main" val="3234616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90F8-EF15-2212-9138-7C717A1D4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34031-CBE7-97F8-5764-F3BE17B336AA}"/>
              </a:ext>
            </a:extLst>
          </p:cNvPr>
          <p:cNvSpPr>
            <a:spLocks noGrp="1"/>
          </p:cNvSpPr>
          <p:nvPr>
            <p:ph type="title"/>
          </p:nvPr>
        </p:nvSpPr>
        <p:spPr>
          <a:xfrm>
            <a:off x="838199" y="365125"/>
            <a:ext cx="9721645" cy="1325563"/>
          </a:xfrm>
        </p:spPr>
        <p:txBody>
          <a:bodyPr>
            <a:noAutofit/>
          </a:bodyPr>
          <a:lstStyle/>
          <a:p>
            <a:pPr algn="ctr"/>
            <a:r>
              <a:rPr lang="en-US" sz="3200" dirty="0"/>
              <a:t>The 10 vulnerabilities identified by OWASP for Large Language Model (LLM) applications</a:t>
            </a:r>
            <a:br>
              <a:rPr lang="en-US" sz="3200" dirty="0"/>
            </a:br>
            <a:endParaRPr lang="en-US" sz="3200" dirty="0"/>
          </a:p>
        </p:txBody>
      </p:sp>
      <p:sp>
        <p:nvSpPr>
          <p:cNvPr id="3" name="Content Placeholder 2">
            <a:extLst>
              <a:ext uri="{FF2B5EF4-FFF2-40B4-BE49-F238E27FC236}">
                <a16:creationId xmlns:a16="http://schemas.microsoft.com/office/drawing/2014/main" id="{AB2EA2C6-9E6D-CCA4-3F57-F4B37634014F}"/>
              </a:ext>
            </a:extLst>
          </p:cNvPr>
          <p:cNvSpPr>
            <a:spLocks noGrp="1"/>
          </p:cNvSpPr>
          <p:nvPr>
            <p:ph idx="1"/>
          </p:nvPr>
        </p:nvSpPr>
        <p:spPr/>
        <p:txBody>
          <a:bodyPr>
            <a:normAutofit/>
          </a:bodyPr>
          <a:lstStyle/>
          <a:p>
            <a:pPr marL="514350" indent="-514350">
              <a:buFont typeface="+mj-lt"/>
              <a:buAutoNum type="arabicPeriod"/>
            </a:pPr>
            <a:r>
              <a:rPr lang="en-US" dirty="0">
                <a:solidFill>
                  <a:srgbClr val="FF0000"/>
                </a:solidFill>
              </a:rPr>
              <a:t>Prompt Injection</a:t>
            </a:r>
            <a:r>
              <a:rPr lang="en-US" dirty="0"/>
              <a:t>: Manipulation of model inputs to gain unauthorized access or induce breaches.</a:t>
            </a:r>
          </a:p>
          <a:p>
            <a:pPr marL="514350" indent="-514350">
              <a:buFont typeface="+mj-lt"/>
              <a:buAutoNum type="arabicPeriod"/>
            </a:pPr>
            <a:r>
              <a:rPr lang="en-US" dirty="0">
                <a:solidFill>
                  <a:srgbClr val="FF0000"/>
                </a:solidFill>
              </a:rPr>
              <a:t>Insecure Output Handling</a:t>
            </a:r>
            <a:r>
              <a:rPr lang="en-US" dirty="0"/>
              <a:t>: Lack of output validation leading to potential security exploits.</a:t>
            </a:r>
          </a:p>
          <a:p>
            <a:pPr marL="514350" indent="-514350">
              <a:buFont typeface="+mj-lt"/>
              <a:buAutoNum type="arabicPeriod"/>
            </a:pPr>
            <a:r>
              <a:rPr lang="en-US" dirty="0">
                <a:solidFill>
                  <a:srgbClr val="FF0000"/>
                </a:solidFill>
              </a:rPr>
              <a:t>Training Data Poisoning</a:t>
            </a:r>
            <a:r>
              <a:rPr lang="en-US" dirty="0"/>
              <a:t>: Compromising model integrity through tampered training data.</a:t>
            </a:r>
          </a:p>
          <a:p>
            <a:pPr marL="514350" indent="-514350">
              <a:buFont typeface="+mj-lt"/>
              <a:buAutoNum type="arabicPeriod"/>
            </a:pPr>
            <a:r>
              <a:rPr lang="en-US" dirty="0">
                <a:solidFill>
                  <a:srgbClr val="FF0000"/>
                </a:solidFill>
              </a:rPr>
              <a:t>Model Denial of Service</a:t>
            </a:r>
            <a:r>
              <a:rPr lang="en-US" dirty="0"/>
              <a:t>: Overloading models with resource-intensive operations causing disruptions.</a:t>
            </a:r>
          </a:p>
          <a:p>
            <a:pPr marL="514350" indent="-514350">
              <a:buFont typeface="+mj-lt"/>
              <a:buAutoNum type="arabicPeriod"/>
            </a:pPr>
            <a:r>
              <a:rPr lang="en-US" dirty="0">
                <a:solidFill>
                  <a:srgbClr val="FF0000"/>
                </a:solidFill>
              </a:rPr>
              <a:t>Supply Chain Vulnerabilities</a:t>
            </a:r>
            <a:r>
              <a:rPr lang="en-US" dirty="0"/>
              <a:t>: Risks from compromised components or services affecting system integrity.</a:t>
            </a:r>
          </a:p>
        </p:txBody>
      </p:sp>
      <p:pic>
        <p:nvPicPr>
          <p:cNvPr id="1026" name="Picture 2" descr="OWASP Top 10 2017 and the new age of Application Security | we45 Blogs">
            <a:extLst>
              <a:ext uri="{FF2B5EF4-FFF2-40B4-BE49-F238E27FC236}">
                <a16:creationId xmlns:a16="http://schemas.microsoft.com/office/drawing/2014/main" id="{346F6598-40E4-8050-D859-E9DA34D07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06" y="365125"/>
            <a:ext cx="1102441" cy="1102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2478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D4F06-0395-C589-5A33-4E79ECC4E4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CCE852-92BC-AA41-FB97-296B3D9AC5B0}"/>
              </a:ext>
            </a:extLst>
          </p:cNvPr>
          <p:cNvSpPr>
            <a:spLocks noGrp="1"/>
          </p:cNvSpPr>
          <p:nvPr>
            <p:ph idx="1"/>
          </p:nvPr>
        </p:nvSpPr>
        <p:spPr/>
        <p:txBody>
          <a:bodyPr/>
          <a:lstStyle/>
          <a:p>
            <a:pPr marL="457200" indent="-457200">
              <a:buFont typeface="+mj-lt"/>
              <a:buAutoNum type="arabicPeriod" startAt="6"/>
            </a:pPr>
            <a:r>
              <a:rPr lang="en-US" dirty="0">
                <a:solidFill>
                  <a:srgbClr val="FF0000"/>
                </a:solidFill>
              </a:rPr>
              <a:t>Sensitive Information Disclosure</a:t>
            </a:r>
            <a:r>
              <a:rPr lang="en-US" dirty="0"/>
              <a:t>: Unintended disclosure of sensitive data in model outputs.</a:t>
            </a:r>
          </a:p>
          <a:p>
            <a:pPr marL="457200" indent="-457200">
              <a:buFont typeface="+mj-lt"/>
              <a:buAutoNum type="arabicPeriod" startAt="6"/>
            </a:pPr>
            <a:r>
              <a:rPr lang="en-US" dirty="0">
                <a:solidFill>
                  <a:srgbClr val="FF0000"/>
                </a:solidFill>
              </a:rPr>
              <a:t>Insecure Plugin Design</a:t>
            </a:r>
            <a:r>
              <a:rPr lang="en-US" dirty="0"/>
              <a:t>: Exploits from processing untrusted inputs in LLM plugins.</a:t>
            </a:r>
          </a:p>
          <a:p>
            <a:pPr marL="457200" indent="-457200">
              <a:buFont typeface="+mj-lt"/>
              <a:buAutoNum type="arabicPeriod" startAt="6"/>
            </a:pPr>
            <a:r>
              <a:rPr lang="en-US" dirty="0">
                <a:solidFill>
                  <a:srgbClr val="FF0000"/>
                </a:solidFill>
              </a:rPr>
              <a:t>Excessive Agency</a:t>
            </a:r>
            <a:r>
              <a:rPr lang="en-US" dirty="0"/>
              <a:t>: Unchecked autonomy of LLMs leading to unintended consequences.</a:t>
            </a:r>
          </a:p>
          <a:p>
            <a:pPr marL="457200" indent="-457200">
              <a:buFont typeface="+mj-lt"/>
              <a:buAutoNum type="arabicPeriod" startAt="6"/>
            </a:pPr>
            <a:r>
              <a:rPr lang="en-US" dirty="0">
                <a:solidFill>
                  <a:srgbClr val="FF0000"/>
                </a:solidFill>
              </a:rPr>
              <a:t>Overreliance</a:t>
            </a:r>
            <a:r>
              <a:rPr lang="en-US" dirty="0"/>
              <a:t>: Failure to critically assess LLM outputs, compromising decision-making.</a:t>
            </a:r>
          </a:p>
          <a:p>
            <a:pPr marL="457200" indent="-457200">
              <a:buFont typeface="+mj-lt"/>
              <a:buAutoNum type="arabicPeriod" startAt="6"/>
            </a:pPr>
            <a:r>
              <a:rPr lang="en-US" dirty="0">
                <a:solidFill>
                  <a:srgbClr val="FF0000"/>
                </a:solidFill>
              </a:rPr>
              <a:t>Model Theft</a:t>
            </a:r>
            <a:r>
              <a:rPr lang="en-US" dirty="0"/>
              <a:t>: Unauthorized access to proprietary models leading to theft and information dissemination.</a:t>
            </a:r>
          </a:p>
        </p:txBody>
      </p:sp>
      <p:sp>
        <p:nvSpPr>
          <p:cNvPr id="6" name="Title 1">
            <a:extLst>
              <a:ext uri="{FF2B5EF4-FFF2-40B4-BE49-F238E27FC236}">
                <a16:creationId xmlns:a16="http://schemas.microsoft.com/office/drawing/2014/main" id="{1C72D29A-955A-735C-CD8E-3D38F03D17B6}"/>
              </a:ext>
            </a:extLst>
          </p:cNvPr>
          <p:cNvSpPr>
            <a:spLocks noGrp="1"/>
          </p:cNvSpPr>
          <p:nvPr>
            <p:ph type="title"/>
          </p:nvPr>
        </p:nvSpPr>
        <p:spPr>
          <a:xfrm>
            <a:off x="838199" y="365125"/>
            <a:ext cx="9721645" cy="1325563"/>
          </a:xfrm>
        </p:spPr>
        <p:txBody>
          <a:bodyPr>
            <a:noAutofit/>
          </a:bodyPr>
          <a:lstStyle/>
          <a:p>
            <a:pPr algn="ctr"/>
            <a:r>
              <a:rPr lang="en-US" sz="3200" dirty="0"/>
              <a:t>The 10 vulnerabilities identified by OWASP for Large Language Model (LLM) applications</a:t>
            </a:r>
            <a:br>
              <a:rPr lang="en-US" sz="3200" dirty="0"/>
            </a:br>
            <a:endParaRPr lang="en-US" sz="3200" dirty="0"/>
          </a:p>
        </p:txBody>
      </p:sp>
      <p:pic>
        <p:nvPicPr>
          <p:cNvPr id="7" name="Picture 2" descr="OWASP Top 10 2017 and the new age of Application Security | we45 Blogs">
            <a:extLst>
              <a:ext uri="{FF2B5EF4-FFF2-40B4-BE49-F238E27FC236}">
                <a16:creationId xmlns:a16="http://schemas.microsoft.com/office/drawing/2014/main" id="{4DB34175-F2E7-1FE3-D7F0-20E9A6654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85206" y="365125"/>
            <a:ext cx="1102441" cy="1102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13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36764-8553-746E-EAFF-CE21D778D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7E341-0C7E-BBF9-B2EA-33FFAEA9CBD4}"/>
              </a:ext>
            </a:extLst>
          </p:cNvPr>
          <p:cNvSpPr>
            <a:spLocks noGrp="1"/>
          </p:cNvSpPr>
          <p:nvPr>
            <p:ph type="title"/>
          </p:nvPr>
        </p:nvSpPr>
        <p:spPr/>
        <p:txBody>
          <a:bodyPr/>
          <a:lstStyle/>
          <a:p>
            <a:r>
              <a:rPr lang="en-US" dirty="0"/>
              <a:t>Microsoft </a:t>
            </a:r>
            <a:r>
              <a:rPr lang="en-US" dirty="0" err="1"/>
              <a:t>AutoGen</a:t>
            </a:r>
            <a:r>
              <a:rPr lang="en-US" dirty="0"/>
              <a:t> Framework</a:t>
            </a:r>
          </a:p>
        </p:txBody>
      </p:sp>
      <p:sp>
        <p:nvSpPr>
          <p:cNvPr id="3" name="Content Placeholder 2">
            <a:extLst>
              <a:ext uri="{FF2B5EF4-FFF2-40B4-BE49-F238E27FC236}">
                <a16:creationId xmlns:a16="http://schemas.microsoft.com/office/drawing/2014/main" id="{1D676774-7042-91CD-5648-ECEA933D2E52}"/>
              </a:ext>
            </a:extLst>
          </p:cNvPr>
          <p:cNvSpPr>
            <a:spLocks noGrp="1"/>
          </p:cNvSpPr>
          <p:nvPr>
            <p:ph idx="1"/>
          </p:nvPr>
        </p:nvSpPr>
        <p:spPr>
          <a:xfrm>
            <a:off x="838199" y="1825625"/>
            <a:ext cx="5480647" cy="4351338"/>
          </a:xfrm>
        </p:spPr>
        <p:txBody>
          <a:bodyPr>
            <a:normAutofit fontScale="77500" lnSpcReduction="20000"/>
          </a:bodyPr>
          <a:lstStyle/>
          <a:p>
            <a:r>
              <a:rPr lang="en-US" dirty="0"/>
              <a:t>Microsoft </a:t>
            </a:r>
            <a:r>
              <a:rPr lang="en-US" dirty="0" err="1"/>
              <a:t>AutoGen</a:t>
            </a:r>
            <a:r>
              <a:rPr lang="en-US" dirty="0"/>
              <a:t> is an open-source framework </a:t>
            </a:r>
            <a:r>
              <a:rPr lang="en-US" dirty="0">
                <a:solidFill>
                  <a:srgbClr val="FF0000"/>
                </a:solidFill>
              </a:rPr>
              <a:t>enhancing LLM application development, enabling multi-agent collaboration for complex tasks</a:t>
            </a:r>
            <a:r>
              <a:rPr lang="en-US" dirty="0"/>
              <a:t>.</a:t>
            </a:r>
          </a:p>
          <a:p>
            <a:r>
              <a:rPr lang="en-US" dirty="0"/>
              <a:t>Offers benefits like multi-agent collaboration, </a:t>
            </a:r>
            <a:r>
              <a:rPr lang="en-US" dirty="0">
                <a:solidFill>
                  <a:srgbClr val="FF0000"/>
                </a:solidFill>
              </a:rPr>
              <a:t>teachability</a:t>
            </a:r>
            <a:r>
              <a:rPr lang="en-US" dirty="0"/>
              <a:t>, and </a:t>
            </a:r>
            <a:r>
              <a:rPr lang="en-US" dirty="0">
                <a:solidFill>
                  <a:srgbClr val="FF0000"/>
                </a:solidFill>
              </a:rPr>
              <a:t>personalization</a:t>
            </a:r>
            <a:r>
              <a:rPr lang="en-US" dirty="0"/>
              <a:t>, making it superior to traditional LLM development methods.</a:t>
            </a:r>
          </a:p>
          <a:p>
            <a:r>
              <a:rPr lang="en-US" dirty="0"/>
              <a:t>Positioned as </a:t>
            </a:r>
            <a:r>
              <a:rPr lang="en-US" dirty="0">
                <a:solidFill>
                  <a:srgbClr val="FF0000"/>
                </a:solidFill>
              </a:rPr>
              <a:t>pivotal in the evolution of conversational AI and human-computer interaction</a:t>
            </a:r>
            <a:r>
              <a:rPr lang="en-US" dirty="0"/>
              <a:t>.</a:t>
            </a:r>
          </a:p>
          <a:p>
            <a:r>
              <a:rPr lang="en-US" dirty="0"/>
              <a:t>Illustrates diverse capabilities through conversational agents in various </a:t>
            </a:r>
            <a:r>
              <a:rPr lang="en-US" dirty="0">
                <a:solidFill>
                  <a:srgbClr val="FF0000"/>
                </a:solidFill>
              </a:rPr>
              <a:t>scenarios, supporting collaborative and hierarchical conversation patterns</a:t>
            </a:r>
            <a:r>
              <a:rPr lang="en-US" dirty="0"/>
              <a:t>.</a:t>
            </a:r>
          </a:p>
          <a:p>
            <a:r>
              <a:rPr lang="en-US" dirty="0">
                <a:solidFill>
                  <a:srgbClr val="00B050"/>
                </a:solidFill>
              </a:rPr>
              <a:t>Utilized in the proposed model to strengthen security policies against OWASP's top 10 LLM vulnerabilities.</a:t>
            </a:r>
          </a:p>
        </p:txBody>
      </p:sp>
      <p:pic>
        <p:nvPicPr>
          <p:cNvPr id="5" name="Picture 4">
            <a:extLst>
              <a:ext uri="{FF2B5EF4-FFF2-40B4-BE49-F238E27FC236}">
                <a16:creationId xmlns:a16="http://schemas.microsoft.com/office/drawing/2014/main" id="{E8FAAF5E-A5DC-BC35-44A0-5A162CC72D65}"/>
              </a:ext>
            </a:extLst>
          </p:cNvPr>
          <p:cNvPicPr>
            <a:picLocks noChangeAspect="1"/>
          </p:cNvPicPr>
          <p:nvPr/>
        </p:nvPicPr>
        <p:blipFill>
          <a:blip r:embed="rId2"/>
          <a:stretch>
            <a:fillRect/>
          </a:stretch>
        </p:blipFill>
        <p:spPr>
          <a:xfrm>
            <a:off x="6488492" y="1690688"/>
            <a:ext cx="5480647" cy="3146783"/>
          </a:xfrm>
          <a:prstGeom prst="rect">
            <a:avLst/>
          </a:prstGeom>
        </p:spPr>
      </p:pic>
    </p:spTree>
    <p:extLst>
      <p:ext uri="{BB962C8B-B14F-4D97-AF65-F5344CB8AC3E}">
        <p14:creationId xmlns:p14="http://schemas.microsoft.com/office/powerpoint/2010/main" val="2895281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DE137-EC71-89B6-C621-D9A18FF9D2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BED55-4BF9-E086-8C19-6488B12F01DB}"/>
              </a:ext>
            </a:extLst>
          </p:cNvPr>
          <p:cNvSpPr>
            <a:spLocks noGrp="1"/>
          </p:cNvSpPr>
          <p:nvPr>
            <p:ph type="title"/>
          </p:nvPr>
        </p:nvSpPr>
        <p:spPr/>
        <p:txBody>
          <a:bodyPr/>
          <a:lstStyle/>
          <a:p>
            <a:pPr algn="ctr"/>
            <a:r>
              <a:rPr lang="en-US" dirty="0"/>
              <a:t>RETREIVAL AUGMENTED GENERATION</a:t>
            </a:r>
          </a:p>
        </p:txBody>
      </p:sp>
      <p:sp>
        <p:nvSpPr>
          <p:cNvPr id="3" name="Content Placeholder 2">
            <a:extLst>
              <a:ext uri="{FF2B5EF4-FFF2-40B4-BE49-F238E27FC236}">
                <a16:creationId xmlns:a16="http://schemas.microsoft.com/office/drawing/2014/main" id="{C6E23F45-09B5-28E5-74D1-E0302FADA6D3}"/>
              </a:ext>
            </a:extLst>
          </p:cNvPr>
          <p:cNvSpPr>
            <a:spLocks noGrp="1"/>
          </p:cNvSpPr>
          <p:nvPr>
            <p:ph idx="1"/>
          </p:nvPr>
        </p:nvSpPr>
        <p:spPr>
          <a:xfrm>
            <a:off x="838200" y="1825625"/>
            <a:ext cx="5257800" cy="4280207"/>
          </a:xfrm>
        </p:spPr>
        <p:txBody>
          <a:bodyPr>
            <a:normAutofit lnSpcReduction="10000"/>
          </a:bodyPr>
          <a:lstStyle/>
          <a:p>
            <a:r>
              <a:rPr lang="en-US" dirty="0"/>
              <a:t>RAG enhances LLMs by </a:t>
            </a:r>
            <a:r>
              <a:rPr lang="en-US" dirty="0">
                <a:solidFill>
                  <a:srgbClr val="FF0000"/>
                </a:solidFill>
              </a:rPr>
              <a:t>integrating external data</a:t>
            </a:r>
            <a:r>
              <a:rPr lang="en-US" dirty="0"/>
              <a:t>, improving accuracy and informativeness.</a:t>
            </a:r>
          </a:p>
          <a:p>
            <a:r>
              <a:rPr lang="en-US" dirty="0"/>
              <a:t>Utilizes </a:t>
            </a:r>
            <a:r>
              <a:rPr lang="en-US" dirty="0">
                <a:solidFill>
                  <a:srgbClr val="FF0000"/>
                </a:solidFill>
              </a:rPr>
              <a:t>relevant documents </a:t>
            </a:r>
            <a:r>
              <a:rPr lang="en-US" dirty="0"/>
              <a:t>from knowledge bases like Wikipedia for response generation.</a:t>
            </a:r>
          </a:p>
          <a:p>
            <a:r>
              <a:rPr lang="en-US" dirty="0">
                <a:solidFill>
                  <a:srgbClr val="FF0000"/>
                </a:solidFill>
              </a:rPr>
              <a:t>Outperforms traditional LLMs </a:t>
            </a:r>
            <a:r>
              <a:rPr lang="en-US" dirty="0"/>
              <a:t>in tasks requiring factual knowledge by accessing broader information.</a:t>
            </a:r>
          </a:p>
          <a:p>
            <a:r>
              <a:rPr lang="en-US" dirty="0"/>
              <a:t>This work leverages RAG to enrich </a:t>
            </a:r>
            <a:r>
              <a:rPr lang="en-US" dirty="0">
                <a:solidFill>
                  <a:srgbClr val="FF0000"/>
                </a:solidFill>
              </a:rPr>
              <a:t>LLM responses with organizational documents and databases.</a:t>
            </a:r>
          </a:p>
        </p:txBody>
      </p:sp>
      <p:pic>
        <p:nvPicPr>
          <p:cNvPr id="2050" name="Picture 2" descr="Best Practices in Retrieval Augmented Generation">
            <a:extLst>
              <a:ext uri="{FF2B5EF4-FFF2-40B4-BE49-F238E27FC236}">
                <a16:creationId xmlns:a16="http://schemas.microsoft.com/office/drawing/2014/main" id="{C294F69D-9BD4-5B98-3712-26EFD5FC3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008" y="1904284"/>
            <a:ext cx="5600543" cy="3270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362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1203-A1FB-5B88-7B1C-F3E4D737C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5A4E13-87FA-1281-8D02-57BC48FA1CD2}"/>
              </a:ext>
            </a:extLst>
          </p:cNvPr>
          <p:cNvSpPr>
            <a:spLocks noGrp="1"/>
          </p:cNvSpPr>
          <p:nvPr>
            <p:ph type="title"/>
          </p:nvPr>
        </p:nvSpPr>
        <p:spPr/>
        <p:txBody>
          <a:bodyPr/>
          <a:lstStyle/>
          <a:p>
            <a:pPr algn="ctr"/>
            <a:r>
              <a:rPr lang="en-US" dirty="0"/>
              <a:t>The Proposed Model</a:t>
            </a:r>
          </a:p>
        </p:txBody>
      </p:sp>
      <p:sp>
        <p:nvSpPr>
          <p:cNvPr id="3" name="Content Placeholder 2">
            <a:extLst>
              <a:ext uri="{FF2B5EF4-FFF2-40B4-BE49-F238E27FC236}">
                <a16:creationId xmlns:a16="http://schemas.microsoft.com/office/drawing/2014/main" id="{949B50FB-F30D-FD8F-D20C-80DF7DFDB130}"/>
              </a:ext>
            </a:extLst>
          </p:cNvPr>
          <p:cNvSpPr>
            <a:spLocks noGrp="1"/>
          </p:cNvSpPr>
          <p:nvPr>
            <p:ph idx="1"/>
          </p:nvPr>
        </p:nvSpPr>
        <p:spPr>
          <a:xfrm>
            <a:off x="838200" y="1825625"/>
            <a:ext cx="10515600" cy="2162715"/>
          </a:xfrm>
        </p:spPr>
        <p:txBody>
          <a:bodyPr/>
          <a:lstStyle/>
          <a:p>
            <a:r>
              <a:rPr lang="en-US" dirty="0"/>
              <a:t>The proposed model include a number of security components that work collaboratively to mitigate the risks outlined in the OWASP Top 10 for LLMs applications. </a:t>
            </a:r>
          </a:p>
          <a:p>
            <a:r>
              <a:rPr lang="en-US" dirty="0"/>
              <a:t>The Figure below presents a general outline of the main components which will be further discussed in the next section.</a:t>
            </a:r>
          </a:p>
          <a:p>
            <a:endParaRPr lang="en-US" dirty="0"/>
          </a:p>
        </p:txBody>
      </p:sp>
      <p:pic>
        <p:nvPicPr>
          <p:cNvPr id="5" name="Picture 4">
            <a:extLst>
              <a:ext uri="{FF2B5EF4-FFF2-40B4-BE49-F238E27FC236}">
                <a16:creationId xmlns:a16="http://schemas.microsoft.com/office/drawing/2014/main" id="{6234D075-11A4-E5E6-33F4-DBC529A3515F}"/>
              </a:ext>
            </a:extLst>
          </p:cNvPr>
          <p:cNvPicPr>
            <a:picLocks noChangeAspect="1"/>
          </p:cNvPicPr>
          <p:nvPr/>
        </p:nvPicPr>
        <p:blipFill>
          <a:blip r:embed="rId2"/>
          <a:stretch>
            <a:fillRect/>
          </a:stretch>
        </p:blipFill>
        <p:spPr>
          <a:xfrm>
            <a:off x="2901481" y="3988340"/>
            <a:ext cx="5701745" cy="2469464"/>
          </a:xfrm>
          <a:prstGeom prst="rect">
            <a:avLst/>
          </a:prstGeom>
        </p:spPr>
      </p:pic>
    </p:spTree>
    <p:extLst>
      <p:ext uri="{BB962C8B-B14F-4D97-AF65-F5344CB8AC3E}">
        <p14:creationId xmlns:p14="http://schemas.microsoft.com/office/powerpoint/2010/main" val="2806658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4605D-DEE2-D0A6-BA48-9F1447C47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49E9A9-2CC6-BD4C-03CC-D95D9290997D}"/>
              </a:ext>
            </a:extLst>
          </p:cNvPr>
          <p:cNvSpPr>
            <a:spLocks noGrp="1"/>
          </p:cNvSpPr>
          <p:nvPr>
            <p:ph type="title"/>
          </p:nvPr>
        </p:nvSpPr>
        <p:spPr/>
        <p:txBody>
          <a:bodyPr/>
          <a:lstStyle/>
          <a:p>
            <a:pPr algn="ctr"/>
            <a:r>
              <a:rPr lang="en-US" dirty="0"/>
              <a:t>The Proposed Model</a:t>
            </a:r>
          </a:p>
        </p:txBody>
      </p:sp>
      <p:sp>
        <p:nvSpPr>
          <p:cNvPr id="3" name="Content Placeholder 2">
            <a:extLst>
              <a:ext uri="{FF2B5EF4-FFF2-40B4-BE49-F238E27FC236}">
                <a16:creationId xmlns:a16="http://schemas.microsoft.com/office/drawing/2014/main" id="{8E9082E2-5B18-115D-24FB-3E301C224A8F}"/>
              </a:ext>
            </a:extLst>
          </p:cNvPr>
          <p:cNvSpPr>
            <a:spLocks noGrp="1"/>
          </p:cNvSpPr>
          <p:nvPr>
            <p:ph idx="1"/>
          </p:nvPr>
        </p:nvSpPr>
        <p:spPr>
          <a:xfrm>
            <a:off x="838200" y="1825625"/>
            <a:ext cx="4414736" cy="4667250"/>
          </a:xfrm>
        </p:spPr>
        <p:txBody>
          <a:bodyPr/>
          <a:lstStyle/>
          <a:p>
            <a:r>
              <a:rPr lang="en-US" dirty="0"/>
              <a:t>The architecture we are proposing is shown in the figure, it includes three agents, a commander agent and a business and security expert agents. </a:t>
            </a:r>
          </a:p>
          <a:p>
            <a:r>
              <a:rPr lang="en-US" dirty="0"/>
              <a:t>Both the business and the security agents incorporate offline knowledge using RAG capabilities. </a:t>
            </a:r>
          </a:p>
          <a:p>
            <a:endParaRPr lang="en-US" dirty="0"/>
          </a:p>
        </p:txBody>
      </p:sp>
      <p:pic>
        <p:nvPicPr>
          <p:cNvPr id="4" name="Picture 3">
            <a:extLst>
              <a:ext uri="{FF2B5EF4-FFF2-40B4-BE49-F238E27FC236}">
                <a16:creationId xmlns:a16="http://schemas.microsoft.com/office/drawing/2014/main" id="{73D8AAAF-04FE-45D7-E859-A5FB925839F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1825625"/>
            <a:ext cx="6014951" cy="4403625"/>
          </a:xfrm>
          <a:prstGeom prst="rect">
            <a:avLst/>
          </a:prstGeom>
        </p:spPr>
      </p:pic>
    </p:spTree>
    <p:extLst>
      <p:ext uri="{BB962C8B-B14F-4D97-AF65-F5344CB8AC3E}">
        <p14:creationId xmlns:p14="http://schemas.microsoft.com/office/powerpoint/2010/main" val="2620424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E27D9-8DED-7200-CCE3-AC493EFF3824}"/>
              </a:ext>
            </a:extLst>
          </p:cNvPr>
          <p:cNvSpPr>
            <a:spLocks noGrp="1"/>
          </p:cNvSpPr>
          <p:nvPr>
            <p:ph type="title"/>
          </p:nvPr>
        </p:nvSpPr>
        <p:spPr/>
        <p:txBody>
          <a:bodyPr/>
          <a:lstStyle/>
          <a:p>
            <a:pPr algn="ctr"/>
            <a:r>
              <a:rPr lang="en-US" dirty="0"/>
              <a:t>The General Workflow of the Proposed Model</a:t>
            </a:r>
          </a:p>
        </p:txBody>
      </p:sp>
      <p:sp>
        <p:nvSpPr>
          <p:cNvPr id="3" name="Content Placeholder 2">
            <a:extLst>
              <a:ext uri="{FF2B5EF4-FFF2-40B4-BE49-F238E27FC236}">
                <a16:creationId xmlns:a16="http://schemas.microsoft.com/office/drawing/2014/main" id="{898B36E0-2A8D-3FCB-D8AE-48CADC785363}"/>
              </a:ext>
            </a:extLst>
          </p:cNvPr>
          <p:cNvSpPr>
            <a:spLocks noGrp="1"/>
          </p:cNvSpPr>
          <p:nvPr>
            <p:ph idx="1"/>
          </p:nvPr>
        </p:nvSpPr>
        <p:spPr>
          <a:xfrm>
            <a:off x="838200" y="1825625"/>
            <a:ext cx="10515600" cy="3612138"/>
          </a:xfrm>
        </p:spPr>
        <p:txBody>
          <a:bodyPr>
            <a:normAutofit/>
          </a:bodyPr>
          <a:lstStyle/>
          <a:p>
            <a:pPr marL="457200" indent="-457200">
              <a:buFont typeface="+mj-lt"/>
              <a:buAutoNum type="arabicPeriod"/>
            </a:pPr>
            <a:r>
              <a:rPr lang="en-US" sz="2000" dirty="0"/>
              <a:t>User submits a query to the LLM application.</a:t>
            </a:r>
          </a:p>
          <a:p>
            <a:pPr marL="457200" indent="-457200">
              <a:buFont typeface="+mj-lt"/>
              <a:buAutoNum type="arabicPeriod"/>
            </a:pPr>
            <a:r>
              <a:rPr lang="en-US" sz="2000" dirty="0"/>
              <a:t>Commander agent receives query, forwards to security agent for validation.</a:t>
            </a:r>
          </a:p>
          <a:p>
            <a:pPr marL="457200" indent="-457200">
              <a:buFont typeface="+mj-lt"/>
              <a:buAutoNum type="arabicPeriod"/>
            </a:pPr>
            <a:r>
              <a:rPr lang="en-US" sz="2000" dirty="0"/>
              <a:t>Security agent checks query against offline knowledge via RAG, decides to accept or reject.</a:t>
            </a:r>
          </a:p>
          <a:p>
            <a:pPr marL="457200" indent="-457200">
              <a:buFont typeface="+mj-lt"/>
              <a:buAutoNum type="arabicPeriod"/>
            </a:pPr>
            <a:r>
              <a:rPr lang="en-US" sz="2000" dirty="0"/>
              <a:t>Rejected queries are returned to the user with an explanation.</a:t>
            </a:r>
          </a:p>
          <a:p>
            <a:pPr marL="457200" indent="-457200">
              <a:buFont typeface="+mj-lt"/>
              <a:buAutoNum type="arabicPeriod"/>
            </a:pPr>
            <a:r>
              <a:rPr lang="en-US" sz="2000" dirty="0"/>
              <a:t>Accepted queries go to the business agent, which uses RAG to draft a response.</a:t>
            </a:r>
          </a:p>
          <a:p>
            <a:pPr marL="457200" indent="-457200">
              <a:buFont typeface="+mj-lt"/>
              <a:buAutoNum type="arabicPeriod"/>
            </a:pPr>
            <a:r>
              <a:rPr lang="en-US" sz="2000" dirty="0"/>
              <a:t>Business agent's response is reviewed by the commander agent.</a:t>
            </a:r>
          </a:p>
          <a:p>
            <a:pPr marL="457200" indent="-457200">
              <a:buFont typeface="+mj-lt"/>
              <a:buAutoNum type="arabicPeriod"/>
            </a:pPr>
            <a:r>
              <a:rPr lang="en-US" sz="2000" dirty="0"/>
              <a:t>Security agent validates the business agent's output; if rejected, process iterates.</a:t>
            </a:r>
          </a:p>
          <a:p>
            <a:pPr marL="457200" indent="-457200">
              <a:buFont typeface="+mj-lt"/>
              <a:buAutoNum type="arabicPeriod"/>
            </a:pPr>
            <a:r>
              <a:rPr lang="en-US" sz="2000" dirty="0"/>
              <a:t>Once approved, the final response is delivered to the user.</a:t>
            </a:r>
            <a:endParaRPr lang="en-US" sz="1400" dirty="0"/>
          </a:p>
        </p:txBody>
      </p:sp>
    </p:spTree>
    <p:extLst>
      <p:ext uri="{BB962C8B-B14F-4D97-AF65-F5344CB8AC3E}">
        <p14:creationId xmlns:p14="http://schemas.microsoft.com/office/powerpoint/2010/main" val="2387222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F0CD3-0A91-CD9D-6B36-B7722D3040EE}"/>
              </a:ext>
            </a:extLst>
          </p:cNvPr>
          <p:cNvSpPr>
            <a:spLocks noGrp="1"/>
          </p:cNvSpPr>
          <p:nvPr>
            <p:ph type="title"/>
          </p:nvPr>
        </p:nvSpPr>
        <p:spPr/>
        <p:txBody>
          <a:bodyPr/>
          <a:lstStyle/>
          <a:p>
            <a:pPr algn="ctr"/>
            <a:r>
              <a:rPr lang="en-US" dirty="0"/>
              <a:t>The Proposed Model</a:t>
            </a:r>
          </a:p>
        </p:txBody>
      </p:sp>
      <p:sp>
        <p:nvSpPr>
          <p:cNvPr id="3" name="Content Placeholder 2">
            <a:extLst>
              <a:ext uri="{FF2B5EF4-FFF2-40B4-BE49-F238E27FC236}">
                <a16:creationId xmlns:a16="http://schemas.microsoft.com/office/drawing/2014/main" id="{257E3F62-0BEA-353E-D567-12C2A27C2CF4}"/>
              </a:ext>
            </a:extLst>
          </p:cNvPr>
          <p:cNvSpPr>
            <a:spLocks noGrp="1"/>
          </p:cNvSpPr>
          <p:nvPr>
            <p:ph idx="1"/>
          </p:nvPr>
        </p:nvSpPr>
        <p:spPr/>
        <p:txBody>
          <a:bodyPr/>
          <a:lstStyle/>
          <a:p>
            <a:r>
              <a:rPr lang="en-US" dirty="0"/>
              <a:t>The control framework </a:t>
            </a:r>
            <a:r>
              <a:rPr lang="en-US" dirty="0" err="1"/>
              <a:t>AutoGen</a:t>
            </a:r>
            <a:r>
              <a:rPr lang="en-US" dirty="0"/>
              <a:t> oversees the LLM's operations within its architecture.</a:t>
            </a:r>
          </a:p>
          <a:p>
            <a:r>
              <a:rPr lang="en-US" dirty="0"/>
              <a:t>LLMs act as intelligent responders to user input, with </a:t>
            </a:r>
            <a:r>
              <a:rPr lang="en-US" dirty="0" err="1"/>
              <a:t>AutoGen</a:t>
            </a:r>
            <a:r>
              <a:rPr lang="en-US" dirty="0"/>
              <a:t> managing function calls and code execution.</a:t>
            </a:r>
          </a:p>
          <a:p>
            <a:r>
              <a:rPr lang="en-US" dirty="0"/>
              <a:t>Early tests on various LLMs with RAG and </a:t>
            </a:r>
            <a:r>
              <a:rPr lang="en-US" dirty="0" err="1"/>
              <a:t>AutoGen</a:t>
            </a:r>
            <a:r>
              <a:rPr lang="en-US" dirty="0"/>
              <a:t> show promising results in policy adherence.</a:t>
            </a:r>
          </a:p>
        </p:txBody>
      </p:sp>
    </p:spTree>
    <p:extLst>
      <p:ext uri="{BB962C8B-B14F-4D97-AF65-F5344CB8AC3E}">
        <p14:creationId xmlns:p14="http://schemas.microsoft.com/office/powerpoint/2010/main" val="3723094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AB1A0-C229-B106-8F74-51B9883E493D}"/>
              </a:ext>
            </a:extLst>
          </p:cNvPr>
          <p:cNvSpPr>
            <a:spLocks noGrp="1"/>
          </p:cNvSpPr>
          <p:nvPr>
            <p:ph type="title"/>
          </p:nvPr>
        </p:nvSpPr>
        <p:spPr/>
        <p:txBody>
          <a:bodyPr/>
          <a:lstStyle/>
          <a:p>
            <a:pPr algn="ctr"/>
            <a:r>
              <a:rPr lang="en-US" dirty="0"/>
              <a:t>Initial Experiments</a:t>
            </a:r>
          </a:p>
        </p:txBody>
      </p:sp>
      <p:pic>
        <p:nvPicPr>
          <p:cNvPr id="5" name="Content Placeholder 4">
            <a:extLst>
              <a:ext uri="{FF2B5EF4-FFF2-40B4-BE49-F238E27FC236}">
                <a16:creationId xmlns:a16="http://schemas.microsoft.com/office/drawing/2014/main" id="{98F19F8A-741B-DD08-21CB-8BCD41FA8729}"/>
              </a:ext>
            </a:extLst>
          </p:cNvPr>
          <p:cNvPicPr>
            <a:picLocks noGrp="1" noChangeAspect="1"/>
          </p:cNvPicPr>
          <p:nvPr>
            <p:ph idx="1"/>
          </p:nvPr>
        </p:nvPicPr>
        <p:blipFill>
          <a:blip r:embed="rId2"/>
          <a:stretch>
            <a:fillRect/>
          </a:stretch>
        </p:blipFill>
        <p:spPr>
          <a:xfrm>
            <a:off x="3138068" y="1825625"/>
            <a:ext cx="6577264" cy="4837822"/>
          </a:xfrm>
        </p:spPr>
      </p:pic>
    </p:spTree>
    <p:extLst>
      <p:ext uri="{BB962C8B-B14F-4D97-AF65-F5344CB8AC3E}">
        <p14:creationId xmlns:p14="http://schemas.microsoft.com/office/powerpoint/2010/main" val="233465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8A3BD-0885-430F-57AF-EDC901404CDC}"/>
              </a:ext>
            </a:extLst>
          </p:cNvPr>
          <p:cNvSpPr>
            <a:spLocks noGrp="1"/>
          </p:cNvSpPr>
          <p:nvPr>
            <p:ph type="title"/>
          </p:nvPr>
        </p:nvSpPr>
        <p:spPr/>
        <p:txBody>
          <a:bodyPr/>
          <a:lstStyle/>
          <a:p>
            <a:pPr algn="ctr"/>
            <a:r>
              <a:rPr lang="en-US" dirty="0"/>
              <a:t>Initial Experiments</a:t>
            </a:r>
          </a:p>
        </p:txBody>
      </p:sp>
      <p:pic>
        <p:nvPicPr>
          <p:cNvPr id="5" name="Content Placeholder 4">
            <a:extLst>
              <a:ext uri="{FF2B5EF4-FFF2-40B4-BE49-F238E27FC236}">
                <a16:creationId xmlns:a16="http://schemas.microsoft.com/office/drawing/2014/main" id="{48528127-AEAF-E9E3-11D3-4D564FD7B0B5}"/>
              </a:ext>
            </a:extLst>
          </p:cNvPr>
          <p:cNvPicPr>
            <a:picLocks noGrp="1" noChangeAspect="1"/>
          </p:cNvPicPr>
          <p:nvPr>
            <p:ph idx="1"/>
          </p:nvPr>
        </p:nvPicPr>
        <p:blipFill>
          <a:blip r:embed="rId2"/>
          <a:stretch>
            <a:fillRect/>
          </a:stretch>
        </p:blipFill>
        <p:spPr>
          <a:xfrm>
            <a:off x="727953" y="1486407"/>
            <a:ext cx="5693910" cy="3046682"/>
          </a:xfrm>
        </p:spPr>
      </p:pic>
      <p:pic>
        <p:nvPicPr>
          <p:cNvPr id="7" name="Picture 6">
            <a:extLst>
              <a:ext uri="{FF2B5EF4-FFF2-40B4-BE49-F238E27FC236}">
                <a16:creationId xmlns:a16="http://schemas.microsoft.com/office/drawing/2014/main" id="{0EA9296A-F411-A1C2-D0F5-CD97BB114346}"/>
              </a:ext>
            </a:extLst>
          </p:cNvPr>
          <p:cNvPicPr>
            <a:picLocks noChangeAspect="1"/>
          </p:cNvPicPr>
          <p:nvPr/>
        </p:nvPicPr>
        <p:blipFill>
          <a:blip r:embed="rId3"/>
          <a:stretch>
            <a:fillRect/>
          </a:stretch>
        </p:blipFill>
        <p:spPr>
          <a:xfrm>
            <a:off x="2638351" y="4704112"/>
            <a:ext cx="6476466" cy="2153888"/>
          </a:xfrm>
          <a:prstGeom prst="rect">
            <a:avLst/>
          </a:prstGeom>
        </p:spPr>
      </p:pic>
    </p:spTree>
    <p:extLst>
      <p:ext uri="{BB962C8B-B14F-4D97-AF65-F5344CB8AC3E}">
        <p14:creationId xmlns:p14="http://schemas.microsoft.com/office/powerpoint/2010/main" val="1194499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DA094-9945-6ECE-C664-BE288F3D26C5}"/>
              </a:ext>
            </a:extLst>
          </p:cNvPr>
          <p:cNvSpPr>
            <a:spLocks noGrp="1"/>
          </p:cNvSpPr>
          <p:nvPr>
            <p:ph type="title"/>
          </p:nvPr>
        </p:nvSpPr>
        <p:spPr/>
        <p:txBody>
          <a:bodyPr/>
          <a:lstStyle/>
          <a:p>
            <a:pPr algn="ctr"/>
            <a:r>
              <a:rPr lang="en-US" dirty="0"/>
              <a:t>Conclusion and Future Work</a:t>
            </a:r>
          </a:p>
        </p:txBody>
      </p:sp>
      <p:sp>
        <p:nvSpPr>
          <p:cNvPr id="3" name="Content Placeholder 2">
            <a:extLst>
              <a:ext uri="{FF2B5EF4-FFF2-40B4-BE49-F238E27FC236}">
                <a16:creationId xmlns:a16="http://schemas.microsoft.com/office/drawing/2014/main" id="{C0926EF8-C139-016E-7786-10A958C93620}"/>
              </a:ext>
            </a:extLst>
          </p:cNvPr>
          <p:cNvSpPr>
            <a:spLocks noGrp="1"/>
          </p:cNvSpPr>
          <p:nvPr>
            <p:ph idx="1"/>
          </p:nvPr>
        </p:nvSpPr>
        <p:spPr/>
        <p:txBody>
          <a:bodyPr>
            <a:normAutofit fontScale="92500" lnSpcReduction="10000"/>
          </a:bodyPr>
          <a:lstStyle/>
          <a:p>
            <a:r>
              <a:rPr lang="en-US" dirty="0"/>
              <a:t>This paper discussed a method to mitigate OWASP's Top 10 risks in LLMs using intelligent agents with LLMs.</a:t>
            </a:r>
          </a:p>
          <a:p>
            <a:r>
              <a:rPr lang="en-US" dirty="0"/>
              <a:t>The proposed model suggests to use a suitable Agents framework and RAG for enhanced security in LLM deployments.</a:t>
            </a:r>
          </a:p>
          <a:p>
            <a:r>
              <a:rPr lang="en-US" dirty="0"/>
              <a:t>The intelligent agents improve security, efficiency, and adapt to new information and threats.</a:t>
            </a:r>
          </a:p>
          <a:p>
            <a:r>
              <a:rPr lang="en-US" dirty="0"/>
              <a:t>Layer 7 security appliances can be augmented with Generative AI (Layer 8).</a:t>
            </a:r>
          </a:p>
          <a:p>
            <a:r>
              <a:rPr lang="en-US" dirty="0"/>
              <a:t>Future work should include extensive testing of different OWASP scenarios.</a:t>
            </a:r>
          </a:p>
          <a:p>
            <a:r>
              <a:rPr lang="en-US" dirty="0"/>
              <a:t>It is also recommended to establish a benchmark for LLM resilience against OWASP risks.</a:t>
            </a:r>
          </a:p>
          <a:p>
            <a:r>
              <a:rPr lang="en-US" dirty="0"/>
              <a:t>In addition, investigating collaborative interaction between agents powered by different language models e.g. GPT 4, Bard or custom-built open-source model.</a:t>
            </a:r>
          </a:p>
        </p:txBody>
      </p:sp>
    </p:spTree>
    <p:extLst>
      <p:ext uri="{BB962C8B-B14F-4D97-AF65-F5344CB8AC3E}">
        <p14:creationId xmlns:p14="http://schemas.microsoft.com/office/powerpoint/2010/main" val="16466673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TotalTime>
  <Words>1032</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Mitigating the OWASP Top 10 For Large Language Models Applications using Intelligent Agents</vt:lpstr>
      <vt:lpstr>Introduction</vt:lpstr>
      <vt:lpstr>The Open Web Application Security Project (OWASP) </vt:lpstr>
      <vt:lpstr>The 10 vulnerabilities identified by OWASP for Large Language Model (LLM) applications </vt:lpstr>
      <vt:lpstr>The 10 vulnerabilities identified by OWASP for Large Language Model (LLM) applications </vt:lpstr>
      <vt:lpstr>Microsoft AutoGen Framework</vt:lpstr>
      <vt:lpstr>RETREIVAL AUGMENTED GENERATION</vt:lpstr>
      <vt:lpstr>The Proposed Model</vt:lpstr>
      <vt:lpstr>The Proposed Model</vt:lpstr>
      <vt:lpstr>The General Workflow of the Proposed Model</vt:lpstr>
      <vt:lpstr>The Proposed Model</vt:lpstr>
      <vt:lpstr>Initial Experiments</vt:lpstr>
      <vt:lpstr>Initial Experiments</vt:lpstr>
      <vt:lpstr>Conclusion and Future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Mitigating the OWASP Top 10 For Large Language Models Applications using Intelligent Agents</dc:title>
  <dc:creator>Mohammed Fasha</dc:creator>
  <cp:lastModifiedBy>Mohammed Fasha</cp:lastModifiedBy>
  <cp:revision>43</cp:revision>
  <dcterms:created xsi:type="dcterms:W3CDTF">2024-02-28T12:24:02Z</dcterms:created>
  <dcterms:modified xsi:type="dcterms:W3CDTF">2024-02-28T13:02:36Z</dcterms:modified>
</cp:coreProperties>
</file>