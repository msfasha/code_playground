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1" r:id="rId2"/>
    <p:sldId id="256" r:id="rId3"/>
    <p:sldId id="258" r:id="rId4"/>
    <p:sldId id="275" r:id="rId5"/>
    <p:sldId id="269" r:id="rId6"/>
    <p:sldId id="292" r:id="rId7"/>
    <p:sldId id="274" r:id="rId8"/>
    <p:sldId id="293" r:id="rId9"/>
    <p:sldId id="276" r:id="rId10"/>
    <p:sldId id="278" r:id="rId11"/>
    <p:sldId id="270" r:id="rId12"/>
    <p:sldId id="277" r:id="rId13"/>
    <p:sldId id="271" r:id="rId14"/>
    <p:sldId id="290" r:id="rId15"/>
    <p:sldId id="289" r:id="rId16"/>
    <p:sldId id="280" r:id="rId17"/>
    <p:sldId id="281" r:id="rId18"/>
    <p:sldId id="288" r:id="rId19"/>
    <p:sldId id="28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23B3B-D48B-2CBE-4C69-80F2D675391E}" v="517" dt="2025-04-26T08:46:07.1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8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5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0285"/>
            <a:ext cx="10515600" cy="48366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ai.meta.com/blog/meta-llama-3-1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ai.meta.com/blog/meta-llama-3-1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msfasha/ArabicLegalLLM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Meta Unveils Llama 3.1 Open-Source AI | Shelly Palmer">
            <a:extLst>
              <a:ext uri="{FF2B5EF4-FFF2-40B4-BE49-F238E27FC236}">
                <a16:creationId xmlns:a16="http://schemas.microsoft.com/office/drawing/2014/main" id="{E2CAA5B8-C58D-8702-96C0-28242397F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5207297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064695"/>
            <a:ext cx="9144000" cy="91707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400" noProof="1">
                <a:ea typeface="+mj-lt"/>
                <a:cs typeface="+mj-lt"/>
              </a:rPr>
              <a:t>Parameter-Efficient Fine-Tuning of LLaMA 3.1 for Arabic Legal Question Answering: A Case Study on Jordanian Laws</a:t>
            </a:r>
            <a:endParaRPr lang="en-US" sz="2400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9" y="5073846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Mohammed Fasha, Bassam Hammo, Bilal Sowan, Husam Barham, Esam Al-</a:t>
            </a:r>
            <a:r>
              <a:rPr lang="en-US" sz="1800" dirty="0" err="1">
                <a:ea typeface="+mn-lt"/>
                <a:cs typeface="+mn-lt"/>
              </a:rPr>
              <a:t>Nsour</a:t>
            </a:r>
            <a:endParaRPr lang="en-US" sz="1800" dirty="0"/>
          </a:p>
        </p:txBody>
      </p:sp>
      <p:pic>
        <p:nvPicPr>
          <p:cNvPr id="1028" name="Picture 4" descr="Generated image">
            <a:extLst>
              <a:ext uri="{FF2B5EF4-FFF2-40B4-BE49-F238E27FC236}">
                <a16:creationId xmlns:a16="http://schemas.microsoft.com/office/drawing/2014/main" id="{AFAF6B69-8D8B-7FCD-EE23-1593EB1B8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901" y="179598"/>
            <a:ext cx="3556331" cy="355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5D6DA-0D7C-927B-4A60-9ED42531C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dirty="0">
                <a:latin typeface="Aptos Display"/>
                <a:ea typeface="Calibri"/>
                <a:cs typeface="Calibri"/>
              </a:rPr>
              <a:t>Research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50056-F4CB-501A-3751-66A65E34D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0285"/>
            <a:ext cx="5074085" cy="499162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70C0"/>
                </a:solidFill>
                <a:ea typeface="+mn-lt"/>
                <a:cs typeface="+mn-lt"/>
              </a:rPr>
              <a:t>Lay groundwork for integrating Arabic Legal-Aware LLMs into Retrieval-Augmented Generation (RAG) systems</a:t>
            </a:r>
          </a:p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Challenges</a:t>
            </a:r>
            <a:r>
              <a:rPr lang="en-US" sz="2000" dirty="0">
                <a:ea typeface="+mn-lt"/>
                <a:cs typeface="+mn-lt"/>
              </a:rPr>
              <a:t>: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Complex legal language and structures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Scarcity of annotated Arabic legal datasets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Need for models that can understand and reason over Arabic legal texts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Opportunity</a:t>
            </a:r>
            <a:r>
              <a:rPr lang="en-US" sz="2000" dirty="0">
                <a:ea typeface="+mn-lt"/>
                <a:cs typeface="+mn-lt"/>
              </a:rPr>
              <a:t>: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Leveraging advanced LLMs like </a:t>
            </a:r>
            <a:r>
              <a:rPr lang="en-US" sz="2000" dirty="0" err="1">
                <a:ea typeface="+mn-lt"/>
                <a:cs typeface="+mn-lt"/>
              </a:rPr>
              <a:t>LLaMA</a:t>
            </a:r>
            <a:r>
              <a:rPr lang="en-US" sz="2000" dirty="0">
                <a:ea typeface="+mn-lt"/>
                <a:cs typeface="+mn-lt"/>
              </a:rPr>
              <a:t> 3.1 with PEFT to address these challenges</a:t>
            </a:r>
          </a:p>
          <a:p>
            <a:r>
              <a:rPr lang="en-US" sz="2000" dirty="0">
                <a:ea typeface="+mn-lt"/>
                <a:cs typeface="+mn-lt"/>
              </a:rPr>
              <a:t>Employing PEFT techniques (</a:t>
            </a:r>
            <a:r>
              <a:rPr lang="en-US" sz="2000" dirty="0" err="1">
                <a:ea typeface="+mn-lt"/>
                <a:cs typeface="+mn-lt"/>
              </a:rPr>
              <a:t>LoRA</a:t>
            </a:r>
            <a:r>
              <a:rPr lang="en-US" sz="2000" dirty="0">
                <a:ea typeface="+mn-lt"/>
                <a:cs typeface="+mn-lt"/>
              </a:rPr>
              <a:t> with 4-bit quantization) for efficient training</a:t>
            </a:r>
          </a:p>
          <a:p>
            <a:r>
              <a:rPr lang="en-US" sz="2100" dirty="0">
                <a:ea typeface="+mn-lt"/>
                <a:cs typeface="+mn-lt"/>
              </a:rPr>
              <a:t>Leverage Foundation LLMs, such as OpenAI GPT models, to address the scarcity of Arabic datasets</a:t>
            </a:r>
          </a:p>
          <a:p>
            <a:pPr marL="228600" lvl="1"/>
            <a:endParaRPr lang="en-US" sz="2000" dirty="0">
              <a:ea typeface="+mn-lt"/>
              <a:cs typeface="+mn-lt"/>
            </a:endParaRPr>
          </a:p>
          <a:p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DD1386-8280-0E92-E4D8-21488C571DCB}"/>
              </a:ext>
            </a:extLst>
          </p:cNvPr>
          <p:cNvSpPr txBox="1"/>
          <p:nvPr/>
        </p:nvSpPr>
        <p:spPr>
          <a:xfrm>
            <a:off x="7841293" y="4531497"/>
            <a:ext cx="32995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Standard RAG Architecture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90BE51-DD17-81EE-C304-1E4E86CFF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588" y="1340285"/>
            <a:ext cx="5435375" cy="319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9075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6E00D-9C14-792F-97B6-81D8ACE7C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465F43-52AC-029D-4828-D9D5C004A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183" y="1812623"/>
            <a:ext cx="8035633" cy="39806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368353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50771-A183-3F52-ADAB-6E654E14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ptos"/>
              </a:rPr>
              <a:t>1. Data Collection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8B71F-9EA8-D8F9-6D60-BFCC75A63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266"/>
            <a:ext cx="7127240" cy="3353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Source</a:t>
            </a:r>
            <a:r>
              <a:rPr lang="en-US" sz="2400" dirty="0">
                <a:ea typeface="+mn-lt"/>
                <a:cs typeface="+mn-lt"/>
              </a:rPr>
              <a:t>: Collected </a:t>
            </a: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18</a:t>
            </a:r>
            <a:r>
              <a:rPr lang="en-US" sz="2400" dirty="0">
                <a:ea typeface="+mn-lt"/>
                <a:cs typeface="+mn-lt"/>
              </a:rPr>
              <a:t> Jordanian legal documents, encompassing a total of </a:t>
            </a: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3,578</a:t>
            </a:r>
            <a:r>
              <a:rPr lang="en-US" sz="2400" dirty="0">
                <a:ea typeface="+mn-lt"/>
                <a:cs typeface="+mn-lt"/>
              </a:rPr>
              <a:t> articles.</a:t>
            </a:r>
          </a:p>
          <a:p>
            <a:pPr>
              <a:buFont typeface="Arial"/>
              <a:buChar char="•"/>
            </a:pP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Preprocessed Text </a:t>
            </a:r>
            <a:r>
              <a:rPr lang="en-US" sz="2400" dirty="0">
                <a:ea typeface="+mn-lt"/>
                <a:cs typeface="+mn-lt"/>
              </a:rPr>
              <a:t>to Enable Generating (Question, Answer, Context) triples.</a:t>
            </a:r>
            <a:endParaRPr lang="en-US" sz="2400" dirty="0"/>
          </a:p>
          <a:p>
            <a:pPr marL="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b="1" dirty="0"/>
          </a:p>
          <a:p>
            <a:pPr>
              <a:buAutoNum type="arabicPeriod"/>
            </a:pP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9E7354-7C5F-3B89-36DF-3BEA5407C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732872"/>
              </p:ext>
            </p:extLst>
          </p:nvPr>
        </p:nvGraphicFramePr>
        <p:xfrm>
          <a:off x="8723857" y="752499"/>
          <a:ext cx="2918565" cy="5943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6802">
                  <a:extLst>
                    <a:ext uri="{9D8B030D-6E8A-4147-A177-3AD203B41FA5}">
                      <a16:colId xmlns:a16="http://schemas.microsoft.com/office/drawing/2014/main" val="3781753215"/>
                    </a:ext>
                  </a:extLst>
                </a:gridCol>
                <a:gridCol w="2681763">
                  <a:extLst>
                    <a:ext uri="{9D8B030D-6E8A-4147-A177-3AD203B41FA5}">
                      <a16:colId xmlns:a16="http://schemas.microsoft.com/office/drawing/2014/main" val="2559584233"/>
                    </a:ext>
                  </a:extLst>
                </a:gridCol>
              </a:tblGrid>
              <a:tr h="7027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</a:rPr>
                        <a:t>#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</a:rPr>
                        <a:t>Selected Jordanian Laws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1104629202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 dirty="0">
                          <a:effectLst/>
                        </a:rPr>
                        <a:t>Jordanian Civil Law</a:t>
                      </a:r>
                      <a:r>
                        <a:rPr lang="en-US" sz="1000" spc="-5" dirty="0">
                          <a:effectLst/>
                        </a:rPr>
                        <a:t> </a:t>
                      </a:r>
                      <a:br>
                        <a:rPr lang="x-none" sz="1000" spc="-5" dirty="0">
                          <a:effectLst/>
                        </a:rPr>
                      </a:br>
                      <a:r>
                        <a:rPr lang="ar-SA" sz="1000" spc="-5" dirty="0">
                          <a:effectLst/>
                        </a:rPr>
                        <a:t>القانون المدني الأردني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3366610916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 dirty="0">
                          <a:effectLst/>
                        </a:rPr>
                        <a:t>Electronic Crimes Law 2024 </a:t>
                      </a:r>
                      <a:br>
                        <a:rPr lang="x-none" sz="1000" spc="-5" dirty="0">
                          <a:effectLst/>
                        </a:rPr>
                      </a:br>
                      <a:r>
                        <a:rPr lang="ar-SA" sz="1000" spc="-5" dirty="0">
                          <a:effectLst/>
                        </a:rPr>
                        <a:t>قانون الجرائم الإلكترونية 2024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3946698998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Jordanian Labor Law with Full Amendments </a:t>
                      </a:r>
                      <a:br>
                        <a:rPr lang="x-none" sz="1000" spc="-5">
                          <a:effectLst/>
                        </a:rPr>
                      </a:br>
                      <a:r>
                        <a:rPr lang="ar-SA" sz="1000" spc="-5">
                          <a:effectLst/>
                        </a:rPr>
                        <a:t>قانون العمل الأردني مع كامل التعديلات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3136644524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Narcotics and Psychotropic Substances Law </a:t>
                      </a:r>
                      <a:br>
                        <a:rPr lang="x-none" sz="1000" spc="-5">
                          <a:effectLst/>
                        </a:rPr>
                      </a:br>
                      <a:r>
                        <a:rPr lang="ar-SA" sz="1000" spc="-5">
                          <a:effectLst/>
                        </a:rPr>
                        <a:t>قانون المخدرات والمؤثرات العقلية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1846774344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Principles of Criminal Court Law</a:t>
                      </a:r>
                      <a:br>
                        <a:rPr lang="x-none" sz="1000" spc="-5">
                          <a:effectLst/>
                        </a:rPr>
                      </a:br>
                      <a:r>
                        <a:rPr lang="ar-SA" sz="1000" spc="-5">
                          <a:effectLst/>
                        </a:rPr>
                        <a:t>قانون أصول المحاكمات الجزائية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3920884512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Principles of Civil Court Procedures Law</a:t>
                      </a:r>
                      <a:br>
                        <a:rPr lang="x-none" sz="1000" spc="-5">
                          <a:effectLst/>
                        </a:rPr>
                      </a:br>
                      <a:r>
                        <a:rPr lang="ar-SA" sz="1000" spc="-5">
                          <a:effectLst/>
                        </a:rPr>
                        <a:t>قانون أصول المحاكمات المدنية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3024938356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Jordanian Data Law</a:t>
                      </a:r>
                      <a:endParaRPr lang="en-US" sz="1000">
                        <a:effectLst/>
                      </a:endParaRPr>
                    </a:p>
                    <a:p>
                      <a:pPr marL="0" marR="0" algn="l">
                        <a:buNone/>
                      </a:pPr>
                      <a:r>
                        <a:rPr lang="ar-SA" sz="1000" spc="-5">
                          <a:effectLst/>
                        </a:rPr>
                        <a:t>قانون البيانات الأردني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2121463322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 dirty="0">
                          <a:effectLst/>
                        </a:rPr>
                        <a:t>Arbitration Law </a:t>
                      </a:r>
                      <a:br>
                        <a:rPr lang="x-none" sz="1000" spc="-5" dirty="0">
                          <a:effectLst/>
                        </a:rPr>
                      </a:br>
                      <a:r>
                        <a:rPr lang="ar-SA" sz="1000" spc="-5" dirty="0">
                          <a:effectLst/>
                        </a:rPr>
                        <a:t>قانون التحكيم الأردني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2218142437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9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Jordanian Execution Law </a:t>
                      </a:r>
                      <a:br>
                        <a:rPr lang="x-none" sz="1000" spc="-5">
                          <a:effectLst/>
                        </a:rPr>
                      </a:br>
                      <a:r>
                        <a:rPr lang="ar-SA" sz="1000" spc="-5">
                          <a:effectLst/>
                        </a:rPr>
                        <a:t>قانون التنفيذ الأردني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1466032225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10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Jordanian Economic Crimes Law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قانون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الجرائم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الاقتصادية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الأردني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89098524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 dirty="0">
                          <a:effectLst/>
                        </a:rPr>
                        <a:t>11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 dirty="0">
                          <a:effectLst/>
                        </a:rPr>
                        <a:t>Jordanian Companies Law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algn="l">
                        <a:buNone/>
                      </a:pPr>
                      <a:r>
                        <a:rPr lang="ar-SA" sz="1000" spc="-5" dirty="0">
                          <a:effectLst/>
                        </a:rPr>
                        <a:t>قانون الشركات الأردني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1287707647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 dirty="0">
                          <a:effectLst/>
                        </a:rPr>
                        <a:t>12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 dirty="0">
                          <a:effectLst/>
                        </a:rPr>
                        <a:t>Jordanian Penal Code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algn="l">
                        <a:buNone/>
                      </a:pPr>
                      <a:r>
                        <a:rPr lang="ar-SA" sz="1000" spc="-5" dirty="0">
                          <a:effectLst/>
                        </a:rPr>
                        <a:t>قانون العقوبات الأردني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394516245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 dirty="0">
                          <a:effectLst/>
                        </a:rPr>
                        <a:t>13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Formation of Regular Courts Law </a:t>
                      </a:r>
                      <a:br>
                        <a:rPr lang="x-none" sz="1000" spc="-5">
                          <a:effectLst/>
                        </a:rPr>
                      </a:br>
                      <a:r>
                        <a:rPr lang="ar-SA" sz="1000" spc="-5">
                          <a:effectLst/>
                        </a:rPr>
                        <a:t>قانون تشكيل المحاكم النظامية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3061940267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 dirty="0">
                          <a:effectLst/>
                        </a:rPr>
                        <a:t>14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Law on the Protection of Copyright</a:t>
                      </a:r>
                      <a:endParaRPr lang="en-US" sz="1000">
                        <a:effectLst/>
                      </a:endParaRPr>
                    </a:p>
                    <a:p>
                      <a:pPr marL="0" marR="0" algn="l">
                        <a:buNone/>
                      </a:pPr>
                      <a:r>
                        <a:rPr lang="ar-SA" sz="1000" spc="-5">
                          <a:effectLst/>
                        </a:rPr>
                        <a:t>قانون حماية حق المؤلف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1991973093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 dirty="0">
                          <a:effectLst/>
                        </a:rPr>
                        <a:t>15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Conciliation Courts Law </a:t>
                      </a:r>
                      <a:br>
                        <a:rPr lang="x-none" sz="1000" spc="-5">
                          <a:effectLst/>
                        </a:rPr>
                      </a:br>
                      <a:r>
                        <a:rPr lang="ar-SA" sz="1000" spc="-5">
                          <a:effectLst/>
                        </a:rPr>
                        <a:t>قانون محاكم الصلح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494288897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 dirty="0">
                          <a:effectLst/>
                        </a:rPr>
                        <a:t>16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Law on the Trial of Ministers </a:t>
                      </a:r>
                      <a:br>
                        <a:rPr lang="x-none" sz="1000" spc="-5">
                          <a:effectLst/>
                        </a:rPr>
                      </a:br>
                      <a:r>
                        <a:rPr lang="ar-SA" sz="1000" spc="-5">
                          <a:effectLst/>
                        </a:rPr>
                        <a:t>قانون محاكمة الوزراء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849677656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 dirty="0">
                          <a:effectLst/>
                        </a:rPr>
                        <a:t>17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Bar Association Law, including regulations for agents </a:t>
                      </a:r>
                      <a:br>
                        <a:rPr lang="x-none" sz="1000" spc="-5">
                          <a:effectLst/>
                        </a:rPr>
                      </a:br>
                      <a:r>
                        <a:rPr lang="ar-SA" sz="1000" spc="-5">
                          <a:effectLst/>
                        </a:rPr>
                        <a:t>قانون ونظام وتعليمات نقابة المحامين والوكلاء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1902617504"/>
                  </a:ext>
                </a:extLst>
              </a:tr>
              <a:tr h="21083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 dirty="0">
                          <a:effectLst/>
                        </a:rPr>
                        <a:t>18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 dirty="0">
                          <a:effectLst/>
                        </a:rPr>
                        <a:t>Law, Regulation, and Instructions for Commercial Agents and Brokers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algn="l">
                        <a:buNone/>
                      </a:pPr>
                      <a:r>
                        <a:rPr lang="ar-SA" sz="1000" spc="-5" dirty="0">
                          <a:effectLst/>
                        </a:rPr>
                        <a:t>قانون ونظام وتعليمات الوكلاء والوسطاء التجاريين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692048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813763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19D46-2E68-3C87-6490-84423570A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72718-FC71-624A-2DCA-98205E6E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ptos"/>
              </a:rPr>
              <a:t>1. Data Collection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0355F-9EC0-D5E2-C920-F6D82C5A2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267"/>
            <a:ext cx="7127240" cy="23079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Dataset Creation</a:t>
            </a:r>
            <a:r>
              <a:rPr lang="en-US" sz="2400" dirty="0">
                <a:ea typeface="+mn-lt"/>
                <a:cs typeface="+mn-lt"/>
              </a:rPr>
              <a:t>:</a:t>
            </a:r>
            <a:endParaRPr lang="en-US" sz="2400" dirty="0"/>
          </a:p>
          <a:p>
            <a:pPr marL="457200" lvl="1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QAC Triples Generation</a:t>
            </a:r>
            <a:r>
              <a:rPr lang="en-US" sz="2000" dirty="0">
                <a:ea typeface="+mn-lt"/>
                <a:cs typeface="+mn-lt"/>
              </a:rPr>
              <a:t>: Utilized OpenAI's GPT-3.5 Turbo to generate approximately 6,000 (Question, Answer, Context) triples.</a:t>
            </a:r>
            <a:endParaRPr lang="en-US" sz="2000" dirty="0"/>
          </a:p>
          <a:p>
            <a:pPr marL="457200" lvl="1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Manual Review</a:t>
            </a:r>
            <a:r>
              <a:rPr lang="en-US" sz="2000" dirty="0">
                <a:ea typeface="+mn-lt"/>
                <a:cs typeface="+mn-lt"/>
              </a:rPr>
              <a:t>: Each QA pair was manually reviewed to ensure accuracy and relevance to the legal context. </a:t>
            </a:r>
            <a:endParaRPr lang="en-US" sz="2000" dirty="0"/>
          </a:p>
          <a:p>
            <a:pPr marL="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b="1" dirty="0"/>
          </a:p>
          <a:p>
            <a:pPr>
              <a:buAutoNum type="arabicPeriod"/>
            </a:pP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0878C3-2AE3-CC64-6F27-39CDEFF1E71C}"/>
              </a:ext>
            </a:extLst>
          </p:cNvPr>
          <p:cNvGraphicFramePr>
            <a:graphicFrameLocks noGrp="1"/>
          </p:cNvGraphicFramePr>
          <p:nvPr/>
        </p:nvGraphicFramePr>
        <p:xfrm>
          <a:off x="8723857" y="752499"/>
          <a:ext cx="2918565" cy="5943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6802">
                  <a:extLst>
                    <a:ext uri="{9D8B030D-6E8A-4147-A177-3AD203B41FA5}">
                      <a16:colId xmlns:a16="http://schemas.microsoft.com/office/drawing/2014/main" val="3781753215"/>
                    </a:ext>
                  </a:extLst>
                </a:gridCol>
                <a:gridCol w="2681763">
                  <a:extLst>
                    <a:ext uri="{9D8B030D-6E8A-4147-A177-3AD203B41FA5}">
                      <a16:colId xmlns:a16="http://schemas.microsoft.com/office/drawing/2014/main" val="2559584233"/>
                    </a:ext>
                  </a:extLst>
                </a:gridCol>
              </a:tblGrid>
              <a:tr h="7027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</a:rPr>
                        <a:t>#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</a:rPr>
                        <a:t>Selected Jordanian Laws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1104629202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 dirty="0">
                          <a:effectLst/>
                        </a:rPr>
                        <a:t>Jordanian Civil Law</a:t>
                      </a:r>
                      <a:r>
                        <a:rPr lang="en-US" sz="1000" spc="-5" dirty="0">
                          <a:effectLst/>
                        </a:rPr>
                        <a:t> </a:t>
                      </a:r>
                      <a:br>
                        <a:rPr lang="x-none" sz="1000" spc="-5" dirty="0">
                          <a:effectLst/>
                        </a:rPr>
                      </a:br>
                      <a:r>
                        <a:rPr lang="ar-SA" sz="1000" spc="-5" dirty="0">
                          <a:effectLst/>
                        </a:rPr>
                        <a:t>القانون المدني الأردني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3366610916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 dirty="0">
                          <a:effectLst/>
                        </a:rPr>
                        <a:t>Electronic Crimes Law 2024 </a:t>
                      </a:r>
                      <a:br>
                        <a:rPr lang="x-none" sz="1000" spc="-5" dirty="0">
                          <a:effectLst/>
                        </a:rPr>
                      </a:br>
                      <a:r>
                        <a:rPr lang="ar-SA" sz="1000" spc="-5" dirty="0">
                          <a:effectLst/>
                        </a:rPr>
                        <a:t>قانون الجرائم الإلكترونية 2024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3946698998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Jordanian Labor Law with Full Amendments </a:t>
                      </a:r>
                      <a:br>
                        <a:rPr lang="x-none" sz="1000" spc="-5">
                          <a:effectLst/>
                        </a:rPr>
                      </a:br>
                      <a:r>
                        <a:rPr lang="ar-SA" sz="1000" spc="-5">
                          <a:effectLst/>
                        </a:rPr>
                        <a:t>قانون العمل الأردني مع كامل التعديلات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3136644524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Narcotics and Psychotropic Substances Law </a:t>
                      </a:r>
                      <a:br>
                        <a:rPr lang="x-none" sz="1000" spc="-5">
                          <a:effectLst/>
                        </a:rPr>
                      </a:br>
                      <a:r>
                        <a:rPr lang="ar-SA" sz="1000" spc="-5">
                          <a:effectLst/>
                        </a:rPr>
                        <a:t>قانون المخدرات والمؤثرات العقلية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1846774344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Principles of Criminal Court Law</a:t>
                      </a:r>
                      <a:br>
                        <a:rPr lang="x-none" sz="1000" spc="-5">
                          <a:effectLst/>
                        </a:rPr>
                      </a:br>
                      <a:r>
                        <a:rPr lang="ar-SA" sz="1000" spc="-5">
                          <a:effectLst/>
                        </a:rPr>
                        <a:t>قانون أصول المحاكمات الجزائية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3920884512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Principles of Civil Court Procedures Law</a:t>
                      </a:r>
                      <a:br>
                        <a:rPr lang="x-none" sz="1000" spc="-5">
                          <a:effectLst/>
                        </a:rPr>
                      </a:br>
                      <a:r>
                        <a:rPr lang="ar-SA" sz="1000" spc="-5">
                          <a:effectLst/>
                        </a:rPr>
                        <a:t>قانون أصول المحاكمات المدنية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3024938356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Jordanian Data Law</a:t>
                      </a:r>
                      <a:endParaRPr lang="en-US" sz="1000">
                        <a:effectLst/>
                      </a:endParaRPr>
                    </a:p>
                    <a:p>
                      <a:pPr marL="0" marR="0" algn="l">
                        <a:buNone/>
                      </a:pPr>
                      <a:r>
                        <a:rPr lang="ar-SA" sz="1000" spc="-5">
                          <a:effectLst/>
                        </a:rPr>
                        <a:t>قانون البيانات الأردني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2121463322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 dirty="0">
                          <a:effectLst/>
                        </a:rPr>
                        <a:t>Arbitration Law </a:t>
                      </a:r>
                      <a:br>
                        <a:rPr lang="x-none" sz="1000" spc="-5" dirty="0">
                          <a:effectLst/>
                        </a:rPr>
                      </a:br>
                      <a:r>
                        <a:rPr lang="ar-SA" sz="1000" spc="-5" dirty="0">
                          <a:effectLst/>
                        </a:rPr>
                        <a:t>قانون التحكيم الأردني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2218142437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9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Jordanian Execution Law </a:t>
                      </a:r>
                      <a:br>
                        <a:rPr lang="x-none" sz="1000" spc="-5">
                          <a:effectLst/>
                        </a:rPr>
                      </a:br>
                      <a:r>
                        <a:rPr lang="ar-SA" sz="1000" spc="-5">
                          <a:effectLst/>
                        </a:rPr>
                        <a:t>قانون التنفيذ الأردني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1466032225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>
                          <a:effectLst/>
                        </a:rPr>
                        <a:t>10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Jordanian Economic Crimes Law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قانون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الجرائم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الاقتصادية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الأردني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89098524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 dirty="0">
                          <a:effectLst/>
                        </a:rPr>
                        <a:t>11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 dirty="0">
                          <a:effectLst/>
                        </a:rPr>
                        <a:t>Jordanian Companies Law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algn="l">
                        <a:buNone/>
                      </a:pPr>
                      <a:r>
                        <a:rPr lang="ar-SA" sz="1000" spc="-5" dirty="0">
                          <a:effectLst/>
                        </a:rPr>
                        <a:t>قانون الشركات الأردني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1287707647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 dirty="0">
                          <a:effectLst/>
                        </a:rPr>
                        <a:t>12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 dirty="0">
                          <a:effectLst/>
                        </a:rPr>
                        <a:t>Jordanian Penal Code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algn="l">
                        <a:buNone/>
                      </a:pPr>
                      <a:r>
                        <a:rPr lang="ar-SA" sz="1000" spc="-5" dirty="0">
                          <a:effectLst/>
                        </a:rPr>
                        <a:t>قانون العقوبات الأردني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394516245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 dirty="0">
                          <a:effectLst/>
                        </a:rPr>
                        <a:t>13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Formation of Regular Courts Law </a:t>
                      </a:r>
                      <a:br>
                        <a:rPr lang="x-none" sz="1000" spc="-5">
                          <a:effectLst/>
                        </a:rPr>
                      </a:br>
                      <a:r>
                        <a:rPr lang="ar-SA" sz="1000" spc="-5">
                          <a:effectLst/>
                        </a:rPr>
                        <a:t>قانون تشكيل المحاكم النظامية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3061940267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 dirty="0">
                          <a:effectLst/>
                        </a:rPr>
                        <a:t>14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Law on the Protection of Copyright</a:t>
                      </a:r>
                      <a:endParaRPr lang="en-US" sz="1000">
                        <a:effectLst/>
                      </a:endParaRPr>
                    </a:p>
                    <a:p>
                      <a:pPr marL="0" marR="0" algn="l">
                        <a:buNone/>
                      </a:pPr>
                      <a:r>
                        <a:rPr lang="ar-SA" sz="1000" spc="-5">
                          <a:effectLst/>
                        </a:rPr>
                        <a:t>قانون حماية حق المؤلف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1991973093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 dirty="0">
                          <a:effectLst/>
                        </a:rPr>
                        <a:t>15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Conciliation Courts Law </a:t>
                      </a:r>
                      <a:br>
                        <a:rPr lang="x-none" sz="1000" spc="-5">
                          <a:effectLst/>
                        </a:rPr>
                      </a:br>
                      <a:r>
                        <a:rPr lang="ar-SA" sz="1000" spc="-5">
                          <a:effectLst/>
                        </a:rPr>
                        <a:t>قانون محاكم الصلح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494288897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 dirty="0">
                          <a:effectLst/>
                        </a:rPr>
                        <a:t>16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Law on the Trial of Ministers </a:t>
                      </a:r>
                      <a:br>
                        <a:rPr lang="x-none" sz="1000" spc="-5">
                          <a:effectLst/>
                        </a:rPr>
                      </a:br>
                      <a:r>
                        <a:rPr lang="ar-SA" sz="1000" spc="-5">
                          <a:effectLst/>
                        </a:rPr>
                        <a:t>قانون محاكمة الوزراء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849677656"/>
                  </a:ext>
                </a:extLst>
              </a:tr>
              <a:tr h="1405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 dirty="0">
                          <a:effectLst/>
                        </a:rPr>
                        <a:t>17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>
                          <a:effectLst/>
                        </a:rPr>
                        <a:t>Bar Association Law, including regulations for agents </a:t>
                      </a:r>
                      <a:br>
                        <a:rPr lang="x-none" sz="1000" spc="-5">
                          <a:effectLst/>
                        </a:rPr>
                      </a:br>
                      <a:r>
                        <a:rPr lang="ar-SA" sz="1000" spc="-5">
                          <a:effectLst/>
                        </a:rPr>
                        <a:t>قانون ونظام وتعليمات نقابة المحامين والوكلاء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1902617504"/>
                  </a:ext>
                </a:extLst>
              </a:tr>
              <a:tr h="21083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x-none" sz="1000" spc="-5" dirty="0">
                          <a:effectLst/>
                        </a:rPr>
                        <a:t>18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x-none" sz="1000" spc="-5" dirty="0">
                          <a:effectLst/>
                        </a:rPr>
                        <a:t>Law, Regulation, and Instructions for Commercial Agents and Brokers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algn="l">
                        <a:buNone/>
                      </a:pPr>
                      <a:r>
                        <a:rPr lang="ar-SA" sz="1000" spc="-5" dirty="0">
                          <a:effectLst/>
                        </a:rPr>
                        <a:t>قانون ونظام وتعليمات الوكلاء والوسطاء التجاريين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139" marR="35139" marT="0" marB="0"/>
                </a:tc>
                <a:extLst>
                  <a:ext uri="{0D108BD9-81ED-4DB2-BD59-A6C34878D82A}">
                    <a16:rowId xmlns:a16="http://schemas.microsoft.com/office/drawing/2014/main" val="69204838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99BF56-7E18-726A-793D-E21BF8B1A5A5}"/>
              </a:ext>
            </a:extLst>
          </p:cNvPr>
          <p:cNvSpPr txBox="1"/>
          <p:nvPr/>
        </p:nvSpPr>
        <p:spPr>
          <a:xfrm>
            <a:off x="982511" y="3681266"/>
            <a:ext cx="683861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noProof="1"/>
              <a:t> { "id": 3,</a:t>
            </a:r>
          </a:p>
          <a:p>
            <a:r>
              <a:rPr lang="en-US" sz="1100" b="1" noProof="1">
                <a:solidFill>
                  <a:srgbClr val="0070C0"/>
                </a:solidFill>
              </a:rPr>
              <a:t>    "question": "ما هي الشروط المطلوبة للاعتماد على العرف كمصدر للحكم في حال عدم وجود نصوص قانونية؟",</a:t>
            </a:r>
          </a:p>
          <a:p>
            <a:r>
              <a:rPr lang="en-US" sz="1100" noProof="1"/>
              <a:t> </a:t>
            </a:r>
            <a:r>
              <a:rPr lang="en-US" sz="1100" b="1" noProof="1">
                <a:solidFill>
                  <a:srgbClr val="00B050"/>
                </a:solidFill>
              </a:rPr>
              <a:t>"context": "المادة 2\nتسري نصوص هذا القانون على المسائل التي تتناولها هذه النصوص بألفاظها ومعانيها ولا مساغ للاجتهاد في مورد النص .2. فاذا لم تجد المحكمة نصاً في هذا القانون حكمت [في الفقه الإسلامي الأكثر موافقة لنصوص هذا القانون ، فان لم توجد فبمقتضى مبادئ الشريعة الإسلامية .3. فان لم توجد حكمت بمقتضى العرف ، فان لم توجد حكمت بمقتضى قواعد العدالة ، ويشترط في العرف أن يكون عاما وقديما ثابتا ومطردا ولا يتعارض مع أحكام القانون أو النظام العام أو الآداب . أما اذا كان العرف خاصا ببلد معين فيسري حكمه على ذلك البلد .4. ويسترشد في ذلك كله بما اقره القضاء والفقه على أن لا يتعارض مع ما ذكر .",</a:t>
            </a:r>
          </a:p>
          <a:p>
            <a:r>
              <a:rPr lang="en-US" sz="1100" b="1" noProof="1">
                <a:solidFill>
                  <a:srgbClr val="0070C0"/>
                </a:solidFill>
              </a:rPr>
              <a:t>    "answer": "يجب أن يكون العرف عاما وقديما ثابتا ومطردا وألا يتعارض مع أحكام القانون أو النظام العام."</a:t>
            </a:r>
          </a:p>
          <a:p>
            <a:r>
              <a:rPr lang="en-US" sz="1100" noProof="1"/>
              <a:t>  },  {"id": 4,</a:t>
            </a:r>
          </a:p>
          <a:p>
            <a:r>
              <a:rPr lang="en-US" sz="1100" b="1" noProof="1">
                <a:solidFill>
                  <a:srgbClr val="0070C0"/>
                </a:solidFill>
              </a:rPr>
              <a:t>    "question": "ما الأساس الذي يستند إليه القضاء والفقه في اتخاذ القرارات القانونية؟",</a:t>
            </a:r>
          </a:p>
          <a:p>
            <a:r>
              <a:rPr lang="en-US" sz="1100" b="1" noProof="1">
                <a:solidFill>
                  <a:srgbClr val="00B050"/>
                </a:solidFill>
              </a:rPr>
              <a:t> "context": "المادة 2\nتسري نصوص هذا القانون على المسائل التي تتناولها هذه النصوص بألفاظها ومعانيها ولا مساغ للاجتهاد في مورد النص .2. فاذا لم تجد المحكمة نصاً في هذا القانون حكمت [في الفقه الإسلامي الأكثر موافقة لنصوص هذا القانون ، فان لم توجد فبمقتضى مبادئ الشريعة الإسلامية .3. فان لم توجد حكمت بمقتضى العرف ، فان لم توجد حكمت بمقتضى قواعد العدالة ، ويشترط في العرف أن يكون عاما وقديما ثابتا ومطردا ولا يتعارض مع أحكام القانون أو النظام العام أو الآداب . أما اذا كان العرف خاصا ببلد معين فيسري حكمه على ذلك البلد .4. ويسترشد في ذلك كله بما اقره القضاء والفقه على أن لا يتعارض مع ما ذكر .",</a:t>
            </a:r>
          </a:p>
          <a:p>
            <a:r>
              <a:rPr lang="en-US" sz="1100" b="1" noProof="1">
                <a:solidFill>
                  <a:srgbClr val="0070C0"/>
                </a:solidFill>
              </a:rPr>
              <a:t>    "answer": "يستند القضاء والفقه في اتخاذ القرارات القانونية إلى عدم التعارض مع الأحكام المذكورة."</a:t>
            </a:r>
            <a:r>
              <a:rPr lang="en-US" sz="1100" noProof="1"/>
              <a:t> }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6AEAB70E-D4C3-8034-7581-EC23BD7AE489}"/>
              </a:ext>
            </a:extLst>
          </p:cNvPr>
          <p:cNvSpPr/>
          <p:nvPr/>
        </p:nvSpPr>
        <p:spPr>
          <a:xfrm>
            <a:off x="7915762" y="4199351"/>
            <a:ext cx="713462" cy="331939"/>
          </a:xfrm>
          <a:prstGeom prst="lef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81317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3DBC7-D106-3E7B-3B4E-899C9ACE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spcBef>
                <a:spcPts val="1000"/>
              </a:spcBef>
            </a:pPr>
            <a:r>
              <a:rPr lang="en-US" sz="3200">
                <a:latin typeface="Aptos Display"/>
              </a:rPr>
              <a:t>2. Models Selection - LLaMA and LLaMA 3.1 Models</a:t>
            </a:r>
            <a:endParaRPr lang="en-US" sz="3200" dirty="0"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475D5-1EDD-6755-F813-0ED9E0F4B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0284"/>
            <a:ext cx="8364322" cy="543003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 err="1">
                <a:ea typeface="+mn-lt"/>
                <a:cs typeface="+mn-lt"/>
              </a:rPr>
              <a:t>LLaMA</a:t>
            </a:r>
            <a:endParaRPr lang="en-US" sz="2000" b="1" dirty="0">
              <a:ea typeface="+mn-lt"/>
              <a:cs typeface="+mn-lt"/>
            </a:endParaRPr>
          </a:p>
          <a:p>
            <a:r>
              <a:rPr lang="en-US" sz="2100" b="1" dirty="0">
                <a:solidFill>
                  <a:srgbClr val="00B050"/>
                </a:solidFill>
                <a:ea typeface="+mn-lt"/>
                <a:cs typeface="+mn-lt"/>
              </a:rPr>
              <a:t>November 30, 2022</a:t>
            </a:r>
            <a:r>
              <a:rPr lang="en-US" sz="2100" dirty="0">
                <a:ea typeface="+mn-lt"/>
                <a:cs typeface="+mn-lt"/>
              </a:rPr>
              <a:t>, OpenAI launched </a:t>
            </a:r>
            <a:r>
              <a:rPr lang="en-US" sz="2100" dirty="0">
                <a:solidFill>
                  <a:srgbClr val="FF0000"/>
                </a:solidFill>
                <a:ea typeface="+mn-lt"/>
                <a:cs typeface="+mn-lt"/>
              </a:rPr>
              <a:t>ChatGPT</a:t>
            </a:r>
            <a:r>
              <a:rPr lang="en-US" sz="2100" dirty="0">
                <a:ea typeface="+mn-lt"/>
                <a:cs typeface="+mn-lt"/>
              </a:rPr>
              <a:t> to the public.</a:t>
            </a:r>
          </a:p>
          <a:p>
            <a:r>
              <a:rPr lang="en-US" sz="2100" b="1" dirty="0">
                <a:solidFill>
                  <a:srgbClr val="00B050"/>
                </a:solidFill>
                <a:ea typeface="+mn-lt"/>
                <a:cs typeface="+mn-lt"/>
              </a:rPr>
              <a:t>February 24, 2023</a:t>
            </a:r>
            <a:r>
              <a:rPr lang="en-US" sz="2100" dirty="0">
                <a:ea typeface="+mn-lt"/>
                <a:cs typeface="+mn-lt"/>
              </a:rPr>
              <a:t>, Meta introduced </a:t>
            </a:r>
            <a:r>
              <a:rPr lang="en-US" sz="2100" dirty="0">
                <a:solidFill>
                  <a:srgbClr val="FF0000"/>
                </a:solidFill>
                <a:ea typeface="+mn-lt"/>
                <a:cs typeface="+mn-lt"/>
              </a:rPr>
              <a:t>Llama 1</a:t>
            </a:r>
            <a:r>
              <a:rPr lang="en-US" sz="2100" dirty="0">
                <a:ea typeface="+mn-lt"/>
                <a:cs typeface="+mn-lt"/>
              </a:rPr>
              <a:t>.</a:t>
            </a:r>
          </a:p>
          <a:p>
            <a:r>
              <a:rPr lang="en-US" sz="2000" dirty="0" err="1">
                <a:ea typeface="+mn-lt"/>
                <a:cs typeface="+mn-lt"/>
              </a:rPr>
              <a:t>LLaMA</a:t>
            </a:r>
            <a:r>
              <a:rPr lang="en-US" sz="2000" dirty="0">
                <a:ea typeface="+mn-lt"/>
                <a:cs typeface="+mn-lt"/>
              </a:rPr>
              <a:t> (Large Language Model Meta AI) is a series of open-source large language models developed by Meta AI. </a:t>
            </a:r>
          </a:p>
          <a:p>
            <a:r>
              <a:rPr lang="en-US" sz="2000" dirty="0">
                <a:ea typeface="+mn-lt"/>
                <a:cs typeface="+mn-lt"/>
              </a:rPr>
              <a:t>Designed for versatility, </a:t>
            </a:r>
            <a:r>
              <a:rPr lang="en-US" sz="2000" dirty="0">
                <a:solidFill>
                  <a:srgbClr val="FF0000"/>
                </a:solidFill>
                <a:ea typeface="+mn-lt"/>
                <a:cs typeface="+mn-lt"/>
              </a:rPr>
              <a:t>these models are capable of tasks ranging from text generation to complex reasoning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 err="1">
                <a:ea typeface="+mn-lt"/>
                <a:cs typeface="+mn-lt"/>
              </a:rPr>
              <a:t>LLaMA</a:t>
            </a:r>
            <a:r>
              <a:rPr lang="en-US" sz="2000" b="1" dirty="0">
                <a:ea typeface="+mn-lt"/>
                <a:cs typeface="+mn-lt"/>
              </a:rPr>
              <a:t> 3.1</a:t>
            </a:r>
            <a:endParaRPr lang="en-US" sz="2000" b="1" dirty="0"/>
          </a:p>
          <a:p>
            <a:r>
              <a:rPr lang="en-US" sz="2000" dirty="0">
                <a:ea typeface="+mn-lt"/>
                <a:cs typeface="+mn-lt"/>
              </a:rPr>
              <a:t>Released in July 2024, </a:t>
            </a:r>
            <a:r>
              <a:rPr lang="en-US" sz="2000" dirty="0" err="1">
                <a:ea typeface="+mn-lt"/>
                <a:cs typeface="+mn-lt"/>
              </a:rPr>
              <a:t>LLaMA</a:t>
            </a:r>
            <a:r>
              <a:rPr lang="en-US" sz="2000" dirty="0">
                <a:ea typeface="+mn-lt"/>
                <a:cs typeface="+mn-lt"/>
              </a:rPr>
              <a:t> 3.1 includes models with </a:t>
            </a:r>
            <a:r>
              <a:rPr lang="en-US" sz="2000" dirty="0">
                <a:solidFill>
                  <a:srgbClr val="FF0000"/>
                </a:solidFill>
                <a:ea typeface="+mn-lt"/>
                <a:cs typeface="+mn-lt"/>
              </a:rPr>
              <a:t>8B, 70B</a:t>
            </a:r>
            <a:r>
              <a:rPr lang="en-US" sz="2000" dirty="0">
                <a:ea typeface="+mn-lt"/>
                <a:cs typeface="+mn-lt"/>
              </a:rPr>
              <a:t>, and </a:t>
            </a:r>
            <a:r>
              <a:rPr lang="en-US" sz="2000" dirty="0">
                <a:solidFill>
                  <a:srgbClr val="FF0000"/>
                </a:solidFill>
                <a:ea typeface="+mn-lt"/>
                <a:cs typeface="+mn-lt"/>
              </a:rPr>
              <a:t>405B</a:t>
            </a:r>
            <a:r>
              <a:rPr lang="en-US" sz="2000" dirty="0">
                <a:ea typeface="+mn-lt"/>
                <a:cs typeface="+mn-lt"/>
              </a:rPr>
              <a:t> parameters. </a:t>
            </a:r>
          </a:p>
          <a:p>
            <a:r>
              <a:rPr lang="en-US" sz="2000" dirty="0">
                <a:solidFill>
                  <a:srgbClr val="0070C0"/>
                </a:solidFill>
                <a:ea typeface="+mn-lt"/>
                <a:cs typeface="+mn-lt"/>
              </a:rPr>
              <a:t>The 8B variant is particularly suited for fine-tuning on specific tasks due to its balance between performance and computational efficiency.</a:t>
            </a:r>
            <a:endParaRPr lang="en-US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Key Features</a:t>
            </a:r>
            <a:endParaRPr lang="en-US" sz="2000" dirty="0"/>
          </a:p>
          <a:p>
            <a:pPr lvl="1"/>
            <a:r>
              <a:rPr lang="en-US" sz="1800" dirty="0">
                <a:ea typeface="+mn-lt"/>
                <a:cs typeface="+mn-lt"/>
              </a:rPr>
              <a:t>Enhanced performance in </a:t>
            </a:r>
            <a:r>
              <a:rPr lang="en-US" sz="1800" dirty="0">
                <a:solidFill>
                  <a:srgbClr val="FF0000"/>
                </a:solidFill>
                <a:ea typeface="+mn-lt"/>
                <a:cs typeface="+mn-lt"/>
              </a:rPr>
              <a:t>multilingual</a:t>
            </a:r>
            <a:r>
              <a:rPr lang="en-US" sz="1800" dirty="0">
                <a:ea typeface="+mn-lt"/>
                <a:cs typeface="+mn-lt"/>
              </a:rPr>
              <a:t> tasks.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FF0000"/>
                </a:solidFill>
                <a:ea typeface="+mn-lt"/>
                <a:cs typeface="+mn-lt"/>
              </a:rPr>
              <a:t>Improved reasoning </a:t>
            </a:r>
            <a:r>
              <a:rPr lang="en-US" sz="1800" dirty="0">
                <a:ea typeface="+mn-lt"/>
                <a:cs typeface="+mn-lt"/>
              </a:rPr>
              <a:t>capabilities.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FF0000"/>
                </a:solidFill>
                <a:ea typeface="+mn-lt"/>
                <a:cs typeface="+mn-lt"/>
              </a:rPr>
              <a:t>Open-source availability</a:t>
            </a:r>
            <a:r>
              <a:rPr lang="en-US" sz="1800" dirty="0">
                <a:ea typeface="+mn-lt"/>
                <a:cs typeface="+mn-lt"/>
              </a:rPr>
              <a:t>, facilitating customization and deployment.</a:t>
            </a:r>
          </a:p>
          <a:p>
            <a:pPr lvl="1"/>
            <a:endParaRPr lang="en-US" sz="1800" dirty="0"/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55716-FB0C-C7D1-E7E9-AA8DEF49EDC3}"/>
              </a:ext>
            </a:extLst>
          </p:cNvPr>
          <p:cNvSpPr txBox="1"/>
          <p:nvPr/>
        </p:nvSpPr>
        <p:spPr>
          <a:xfrm>
            <a:off x="9351265" y="3976029"/>
            <a:ext cx="26529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2"/>
              </a:rPr>
              <a:t>https://ai.meta.com/blog/meta-llama-3-1/</a:t>
            </a:r>
            <a:endParaRPr lang="en-US" sz="1000" dirty="0"/>
          </a:p>
        </p:txBody>
      </p:sp>
      <p:pic>
        <p:nvPicPr>
          <p:cNvPr id="7" name="Picture 6" descr="A llama with a blanket on its back&#10;&#10;AI-generated content may be incorrect.">
            <a:extLst>
              <a:ext uri="{FF2B5EF4-FFF2-40B4-BE49-F238E27FC236}">
                <a16:creationId xmlns:a16="http://schemas.microsoft.com/office/drawing/2014/main" id="{B5AA258E-B6B7-ACBE-79FF-FC7F8FFFC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333" y="982697"/>
            <a:ext cx="2933910" cy="293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258609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21B4F-3096-13E2-2AC7-B3B82FF9D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C6BD0-8998-CAB6-7E82-45902F425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spcBef>
                <a:spcPts val="1000"/>
              </a:spcBef>
            </a:pPr>
            <a:r>
              <a:rPr lang="en-US" sz="3200">
                <a:latin typeface="Aptos Display"/>
              </a:rPr>
              <a:t>2. Models Selection - LLaMA and LLaMA 3.1 Models</a:t>
            </a:r>
            <a:endParaRPr lang="en-US" sz="3200" dirty="0"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514D1-E405-3359-7064-8C449ED5E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0284"/>
            <a:ext cx="8364322" cy="54300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We </a:t>
            </a:r>
            <a:r>
              <a:rPr lang="en-US" sz="2000" b="1" dirty="0">
                <a:ea typeface="+mn-lt"/>
                <a:cs typeface="+mn-lt"/>
              </a:rPr>
              <a:t>Selected the following Base Models in our work:</a:t>
            </a:r>
          </a:p>
          <a:p>
            <a:pPr marL="971550" lvl="1" indent="-285750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Meta-Llama-3.1-8B</a:t>
            </a:r>
          </a:p>
          <a:p>
            <a:pPr marL="971550" lvl="1" indent="-285750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Meta-Llama-3.1-8B-Instruct</a:t>
            </a:r>
          </a:p>
          <a:p>
            <a:pPr lvl="1"/>
            <a:endParaRPr lang="en-US" sz="1800" dirty="0"/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39A1F7-D55E-C73C-F09D-A9B4982755CA}"/>
              </a:ext>
            </a:extLst>
          </p:cNvPr>
          <p:cNvSpPr txBox="1"/>
          <p:nvPr/>
        </p:nvSpPr>
        <p:spPr>
          <a:xfrm>
            <a:off x="9351265" y="3976029"/>
            <a:ext cx="26529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2"/>
              </a:rPr>
              <a:t>https://ai.meta.com/blog/meta-llama-3-1/</a:t>
            </a:r>
            <a:endParaRPr lang="en-US" sz="1000" dirty="0"/>
          </a:p>
        </p:txBody>
      </p:sp>
      <p:pic>
        <p:nvPicPr>
          <p:cNvPr id="7" name="Picture 6" descr="A llama with a blanket on its back&#10;&#10;AI-generated content may be incorrect.">
            <a:extLst>
              <a:ext uri="{FF2B5EF4-FFF2-40B4-BE49-F238E27FC236}">
                <a16:creationId xmlns:a16="http://schemas.microsoft.com/office/drawing/2014/main" id="{3CAFC4FD-4637-3C0A-0509-A900CE0A7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333" y="982697"/>
            <a:ext cx="2933910" cy="293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111786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9E9DF-D71A-C49C-B183-BD6D4CAAD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>
                <a:latin typeface="Aptos Display"/>
              </a:rPr>
              <a:t>Quantization in LLMs</a:t>
            </a:r>
            <a:endParaRPr lang="en-US" dirty="0"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18D26-78EF-63BA-CA75-18F665E88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0285"/>
            <a:ext cx="5856962" cy="375154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lvl="1" indent="0">
              <a:buNone/>
            </a:pPr>
            <a:r>
              <a:rPr lang="en-US" sz="1600" dirty="0">
                <a:ea typeface="+mn-lt"/>
                <a:cs typeface="+mn-lt"/>
              </a:rPr>
              <a:t>Quantization is a technique that reduces the precision of the numbers used to represent a model's parameters, leading to smaller model sizes and faster computations. </a:t>
            </a:r>
            <a:endParaRPr lang="en-US" sz="1600" dirty="0"/>
          </a:p>
          <a:p>
            <a:r>
              <a:rPr lang="en-US" sz="1600" b="1" dirty="0">
                <a:ea typeface="+mn-lt"/>
                <a:cs typeface="+mn-lt"/>
              </a:rPr>
              <a:t>4-bit Quantization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FF0000"/>
                </a:solidFill>
                <a:ea typeface="+mn-lt"/>
                <a:cs typeface="+mn-lt"/>
              </a:rPr>
              <a:t>Involves representing model weights using 4 bits instead of the standard 16 or 32 bits. </a:t>
            </a:r>
          </a:p>
          <a:p>
            <a:pPr lvl="1"/>
            <a:r>
              <a:rPr lang="en-US" sz="1600" dirty="0">
                <a:ea typeface="+mn-lt"/>
                <a:cs typeface="+mn-lt"/>
              </a:rPr>
              <a:t>This significantly reduces the model's memory footprint and accelerates inference times. </a:t>
            </a:r>
            <a:endParaRPr lang="en-US" sz="1600" dirty="0"/>
          </a:p>
          <a:p>
            <a:r>
              <a:rPr lang="en-US" sz="1600" b="1" dirty="0">
                <a:ea typeface="+mn-lt"/>
                <a:cs typeface="+mn-lt"/>
              </a:rPr>
              <a:t>Benefits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FF0000"/>
                </a:solidFill>
                <a:ea typeface="+mn-lt"/>
                <a:cs typeface="+mn-lt"/>
              </a:rPr>
              <a:t>Reduces model size by up to 75%</a:t>
            </a:r>
            <a:r>
              <a:rPr lang="en-US" sz="1600" dirty="0">
                <a:ea typeface="+mn-lt"/>
                <a:cs typeface="+mn-lt"/>
              </a:rPr>
              <a:t>, enabling deployment on devices with limited resources.</a:t>
            </a:r>
          </a:p>
          <a:p>
            <a:pPr lvl="2"/>
            <a:r>
              <a:rPr lang="en-US" sz="1400" b="1" dirty="0">
                <a:ea typeface="+mn-lt"/>
                <a:cs typeface="+mn-lt"/>
              </a:rPr>
              <a:t>Original (FP16)</a:t>
            </a:r>
            <a:r>
              <a:rPr lang="en-US" sz="1400" dirty="0">
                <a:ea typeface="+mn-lt"/>
                <a:cs typeface="+mn-lt"/>
              </a:rPr>
              <a:t>: Approximately 16 GB</a:t>
            </a:r>
            <a:endParaRPr lang="en-US" sz="1400" dirty="0"/>
          </a:p>
          <a:p>
            <a:pPr lvl="2"/>
            <a:r>
              <a:rPr lang="en-US" sz="1400" b="1" dirty="0">
                <a:ea typeface="+mn-lt"/>
                <a:cs typeface="+mn-lt"/>
              </a:rPr>
              <a:t>Quantized (4-bit)</a:t>
            </a:r>
            <a:r>
              <a:rPr lang="en-US" sz="1400" dirty="0">
                <a:ea typeface="+mn-lt"/>
                <a:cs typeface="+mn-lt"/>
              </a:rPr>
              <a:t>: Approximately 4 GB</a:t>
            </a:r>
            <a:endParaRPr lang="en-US" sz="1400" dirty="0"/>
          </a:p>
          <a:p>
            <a:r>
              <a:rPr lang="en-US" sz="1600" b="1" dirty="0">
                <a:ea typeface="+mn-lt"/>
                <a:cs typeface="+mn-lt"/>
              </a:rPr>
              <a:t>Inference Speed</a:t>
            </a:r>
            <a:r>
              <a:rPr lang="en-US" sz="1600" dirty="0">
                <a:ea typeface="+mn-lt"/>
                <a:cs typeface="+mn-lt"/>
              </a:rPr>
              <a:t>: Quantized models exhibit </a:t>
            </a:r>
            <a:r>
              <a:rPr lang="en-US" sz="1600" dirty="0">
                <a:solidFill>
                  <a:srgbClr val="FF0000"/>
                </a:solidFill>
                <a:ea typeface="+mn-lt"/>
                <a:cs typeface="+mn-lt"/>
              </a:rPr>
              <a:t>faster inference </a:t>
            </a:r>
            <a:r>
              <a:rPr lang="en-US" sz="1600" dirty="0">
                <a:ea typeface="+mn-lt"/>
                <a:cs typeface="+mn-lt"/>
              </a:rPr>
              <a:t>times due to reduced computational overhead. </a:t>
            </a:r>
            <a:endParaRPr lang="en-US" sz="1600" dirty="0"/>
          </a:p>
          <a:p>
            <a:endParaRPr lang="en-US" sz="1600" dirty="0">
              <a:ea typeface="+mn-lt"/>
              <a:cs typeface="+mn-lt"/>
            </a:endParaRPr>
          </a:p>
          <a:p>
            <a:pPr lvl="1"/>
            <a:endParaRPr lang="en-US" sz="1600" dirty="0"/>
          </a:p>
          <a:p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7BC931-B0B7-F6EF-6ED6-A1718710F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636" y="1340285"/>
            <a:ext cx="5046041" cy="29332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F57CDE-92DF-B572-F1EC-23A9C0C46097}"/>
              </a:ext>
            </a:extLst>
          </p:cNvPr>
          <p:cNvSpPr txBox="1"/>
          <p:nvPr/>
        </p:nvSpPr>
        <p:spPr>
          <a:xfrm>
            <a:off x="838200" y="5091831"/>
            <a:ext cx="101727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0000"/>
                </a:solidFill>
                <a:ea typeface="+mn-lt"/>
                <a:cs typeface="+mn-lt"/>
              </a:rPr>
              <a:t>Accuracy Retention</a:t>
            </a:r>
            <a:r>
              <a:rPr lang="en-US" sz="1800" dirty="0">
                <a:ea typeface="+mn-lt"/>
                <a:cs typeface="+mn-lt"/>
              </a:rPr>
              <a:t>: Maintains over </a:t>
            </a:r>
            <a:r>
              <a:rPr lang="en-US" sz="1800" dirty="0">
                <a:solidFill>
                  <a:srgbClr val="FF0000"/>
                </a:solidFill>
                <a:ea typeface="+mn-lt"/>
                <a:cs typeface="+mn-lt"/>
              </a:rPr>
              <a:t>99% </a:t>
            </a:r>
            <a:r>
              <a:rPr lang="en-US" sz="1800" dirty="0">
                <a:ea typeface="+mn-lt"/>
                <a:cs typeface="+mn-lt"/>
              </a:rPr>
              <a:t>of the original model's performance, ensuring reliable outputs for legal question-answering tasks. 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0000"/>
                </a:solidFill>
                <a:ea typeface="+mn-lt"/>
                <a:cs typeface="+mn-lt"/>
              </a:rPr>
              <a:t>Resource Efficiency</a:t>
            </a:r>
            <a:r>
              <a:rPr lang="en-US" sz="1800" dirty="0">
                <a:ea typeface="+mn-lt"/>
                <a:cs typeface="+mn-lt"/>
              </a:rPr>
              <a:t>: Facilitates deployment in environments with </a:t>
            </a:r>
            <a:r>
              <a:rPr lang="en-US" sz="1800" dirty="0">
                <a:solidFill>
                  <a:srgbClr val="FF0000"/>
                </a:solidFill>
                <a:ea typeface="+mn-lt"/>
                <a:cs typeface="+mn-lt"/>
              </a:rPr>
              <a:t>constrained computational resources</a:t>
            </a:r>
            <a:r>
              <a:rPr lang="en-US" sz="1800" dirty="0">
                <a:ea typeface="+mn-lt"/>
                <a:cs typeface="+mn-lt"/>
              </a:rPr>
              <a:t>, such as edge devices or standard GPUs. </a:t>
            </a:r>
            <a:endParaRPr lang="en-US" sz="16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ea typeface="+mn-lt"/>
                <a:cs typeface="+mn-lt"/>
              </a:rPr>
              <a:t>Implementation</a:t>
            </a:r>
            <a:r>
              <a:rPr lang="en-US" sz="1800" dirty="0">
                <a:ea typeface="+mn-lt"/>
                <a:cs typeface="+mn-lt"/>
              </a:rPr>
              <a:t>: Utilized the </a:t>
            </a:r>
            <a:r>
              <a:rPr lang="en-US" sz="1800" dirty="0" err="1">
                <a:ea typeface="+mn-lt"/>
                <a:cs typeface="+mn-lt"/>
              </a:rPr>
              <a:t>bitsandbytes</a:t>
            </a:r>
            <a:r>
              <a:rPr lang="en-US" sz="1800" dirty="0">
                <a:ea typeface="+mn-lt"/>
                <a:cs typeface="+mn-lt"/>
              </a:rPr>
              <a:t> library to apply 4-bit quantization to the </a:t>
            </a:r>
            <a:r>
              <a:rPr lang="en-US" sz="1800" dirty="0" err="1">
                <a:ea typeface="+mn-lt"/>
                <a:cs typeface="+mn-lt"/>
              </a:rPr>
              <a:t>LLaMA</a:t>
            </a:r>
            <a:r>
              <a:rPr lang="en-US" sz="1800" dirty="0">
                <a:ea typeface="+mn-lt"/>
                <a:cs typeface="+mn-lt"/>
              </a:rPr>
              <a:t> 3.1 8B model, facilitating efficient storage and faster inference without significant loss in performance. </a:t>
            </a:r>
          </a:p>
        </p:txBody>
      </p:sp>
    </p:spTree>
    <p:extLst>
      <p:ext uri="{BB962C8B-B14F-4D97-AF65-F5344CB8AC3E}">
        <p14:creationId xmlns:p14="http://schemas.microsoft.com/office/powerpoint/2010/main" val="3595288442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D11A1-A03D-0732-18B2-4EB14C3C9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US" sz="2600" dirty="0">
                <a:latin typeface="Aptos"/>
              </a:rPr>
              <a:t>Parameter-Efficient Fine-Tuning (PEFT) and </a:t>
            </a:r>
            <a:r>
              <a:rPr lang="en-US" sz="2600" dirty="0" err="1">
                <a:latin typeface="Aptos"/>
              </a:rPr>
              <a:t>LoRA</a:t>
            </a:r>
            <a:endParaRPr lang="en-US" sz="2600" dirty="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C9BCC-EE5D-A9AC-71AF-58C60BAC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40285"/>
            <a:ext cx="10960947" cy="295373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342900" lvl="1" indent="-342900"/>
            <a:r>
              <a:rPr lang="en-US" dirty="0">
                <a:solidFill>
                  <a:srgbClr val="0070C0"/>
                </a:solidFill>
                <a:ea typeface="+mn-lt"/>
                <a:cs typeface="+mn-lt"/>
              </a:rPr>
              <a:t>Parameter-Efficient Fine-Tuning (PEFT) refers to techniques that adapt pre-trained models to new tasks by updating a small subset of parameters, making the process more resource-efficient.</a:t>
            </a:r>
          </a:p>
          <a:p>
            <a:pPr marL="342900" lvl="1" indent="-342900"/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LoRA</a:t>
            </a:r>
            <a:r>
              <a:rPr lang="en-US" dirty="0">
                <a:ea typeface="+mn-lt"/>
                <a:cs typeface="+mn-lt"/>
              </a:rPr>
              <a:t> is a PEFT method that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adds trainable low-rank matrices </a:t>
            </a:r>
            <a:r>
              <a:rPr lang="en-US" dirty="0">
                <a:ea typeface="+mn-lt"/>
                <a:cs typeface="+mn-lt"/>
              </a:rPr>
              <a:t>to certain layers of the model.</a:t>
            </a:r>
          </a:p>
          <a:p>
            <a:pPr marL="342900" lvl="1" indent="-342900"/>
            <a:r>
              <a:rPr lang="en-US" dirty="0">
                <a:ea typeface="+mn-lt"/>
                <a:cs typeface="+mn-lt"/>
              </a:rPr>
              <a:t>During fine-tuning, only these additional matrices are updated, while the original model parameters remain unchanged. 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Advantages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Significantly reduces the number of trainable parameters</a:t>
            </a:r>
            <a:r>
              <a:rPr lang="en-US" dirty="0">
                <a:ea typeface="+mn-lt"/>
                <a:cs typeface="+mn-lt"/>
              </a:rPr>
              <a:t>, leading to faster training times.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Minimizes the risk of overfitting and preserves the pre-trained knowledge of the model. </a:t>
            </a:r>
            <a:endParaRPr lang="en-US" dirty="0"/>
          </a:p>
          <a:p>
            <a:endParaRPr lang="en-US" dirty="0"/>
          </a:p>
        </p:txBody>
      </p:sp>
      <p:pic>
        <p:nvPicPr>
          <p:cNvPr id="7170" name="Picture 2" descr="Parameter-Efficient Fine-Tuning (PEFT) of LLMs | by LM Po | Medium">
            <a:extLst>
              <a:ext uri="{FF2B5EF4-FFF2-40B4-BE49-F238E27FC236}">
                <a16:creationId xmlns:a16="http://schemas.microsoft.com/office/drawing/2014/main" id="{E4C634D2-AC16-4397-6DED-F39D17871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549" y="4389536"/>
            <a:ext cx="7524902" cy="23593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837763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51101-2730-2A46-DBCD-57665CD5C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537548" cy="912530"/>
          </a:xfrm>
        </p:spPr>
        <p:txBody>
          <a:bodyPr/>
          <a:lstStyle/>
          <a:p>
            <a:r>
              <a:rPr lang="en-US" sz="2000" dirty="0">
                <a:latin typeface="Aptos"/>
              </a:rPr>
              <a:t>3. </a:t>
            </a:r>
            <a:r>
              <a:rPr lang="en-US" sz="2000" b="1" dirty="0">
                <a:latin typeface="Aptos"/>
              </a:rPr>
              <a:t>Fine-Tuning with </a:t>
            </a:r>
            <a:r>
              <a:rPr lang="en-US" sz="2000" b="1" dirty="0" err="1">
                <a:latin typeface="Aptos"/>
              </a:rPr>
              <a:t>Unsloth</a:t>
            </a:r>
            <a:r>
              <a:rPr lang="en-US" sz="2000" b="1" dirty="0">
                <a:latin typeface="Aptos"/>
              </a:rPr>
              <a:t> &amp; </a:t>
            </a:r>
            <a:r>
              <a:rPr lang="en-US" sz="2000" b="1" dirty="0" err="1">
                <a:latin typeface="Aptos"/>
              </a:rPr>
              <a:t>LoRA</a:t>
            </a:r>
            <a:endParaRPr lang="en-US" sz="2000" dirty="0" err="1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78FF-0D62-056C-DFA9-CC7A05219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40285"/>
            <a:ext cx="11424781" cy="48366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ea typeface="+mn-lt"/>
                <a:cs typeface="+mn-lt"/>
              </a:rPr>
              <a:t>Unsloth</a:t>
            </a:r>
            <a:r>
              <a:rPr lang="en-US" sz="2000" dirty="0">
                <a:ea typeface="+mn-lt"/>
                <a:cs typeface="+mn-lt"/>
              </a:rPr>
              <a:t> is an </a:t>
            </a:r>
            <a:r>
              <a:rPr lang="en-US" sz="2000" dirty="0">
                <a:solidFill>
                  <a:srgbClr val="FF0000"/>
                </a:solidFill>
                <a:ea typeface="+mn-lt"/>
                <a:cs typeface="+mn-lt"/>
              </a:rPr>
              <a:t>open-source framework designed to optimize and accelerate the fine-tuning of large language models (LLMs) like </a:t>
            </a:r>
            <a:r>
              <a:rPr lang="en-US" sz="2000" dirty="0" err="1">
                <a:solidFill>
                  <a:srgbClr val="FF0000"/>
                </a:solidFill>
                <a:ea typeface="+mn-lt"/>
                <a:cs typeface="+mn-lt"/>
              </a:rPr>
              <a:t>LLaMA</a:t>
            </a:r>
            <a:r>
              <a:rPr lang="en-US" sz="2000" dirty="0">
                <a:ea typeface="+mn-lt"/>
                <a:cs typeface="+mn-lt"/>
              </a:rPr>
              <a:t>. </a:t>
            </a:r>
          </a:p>
          <a:p>
            <a:r>
              <a:rPr lang="en-US" sz="2000" dirty="0">
                <a:ea typeface="+mn-lt"/>
                <a:cs typeface="+mn-lt"/>
              </a:rPr>
              <a:t>It achieves this by implementing efficient training techniques and reducing memory usage.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Key Features</a:t>
            </a:r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  <a:ea typeface="+mn-lt"/>
                <a:cs typeface="+mn-lt"/>
              </a:rPr>
              <a:t>Supports</a:t>
            </a:r>
            <a:r>
              <a:rPr lang="en-US" sz="2000" dirty="0">
                <a:ea typeface="+mn-lt"/>
                <a:cs typeface="+mn-lt"/>
              </a:rPr>
              <a:t> 4-bit and 16-bit </a:t>
            </a:r>
            <a:r>
              <a:rPr lang="en-US" sz="2000" dirty="0">
                <a:solidFill>
                  <a:srgbClr val="FF0000"/>
                </a:solidFill>
                <a:ea typeface="+mn-lt"/>
                <a:cs typeface="+mn-lt"/>
              </a:rPr>
              <a:t>quantization</a:t>
            </a:r>
            <a:r>
              <a:rPr lang="en-US" sz="2000" dirty="0">
                <a:ea typeface="+mn-lt"/>
                <a:cs typeface="+mn-lt"/>
              </a:rPr>
              <a:t> for memory efficiency.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Utilizes manual backpropagation and </a:t>
            </a:r>
            <a:r>
              <a:rPr lang="en-US" sz="2000" dirty="0">
                <a:solidFill>
                  <a:srgbClr val="FF0000"/>
                </a:solidFill>
                <a:ea typeface="+mn-lt"/>
                <a:cs typeface="+mn-lt"/>
              </a:rPr>
              <a:t>custom GPU kernels </a:t>
            </a:r>
            <a:r>
              <a:rPr lang="en-US" sz="2000" dirty="0">
                <a:ea typeface="+mn-lt"/>
                <a:cs typeface="+mn-lt"/>
              </a:rPr>
              <a:t>for faster computation.</a:t>
            </a:r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  <a:ea typeface="+mn-lt"/>
                <a:cs typeface="+mn-lt"/>
              </a:rPr>
              <a:t>Compatible</a:t>
            </a:r>
            <a:r>
              <a:rPr lang="en-US" sz="2000" dirty="0">
                <a:ea typeface="+mn-lt"/>
                <a:cs typeface="+mn-lt"/>
              </a:rPr>
              <a:t> with various LLM architectures, including </a:t>
            </a:r>
            <a:r>
              <a:rPr lang="en-US" sz="2000" dirty="0" err="1">
                <a:solidFill>
                  <a:srgbClr val="FF0000"/>
                </a:solidFill>
                <a:ea typeface="+mn-lt"/>
                <a:cs typeface="+mn-lt"/>
              </a:rPr>
              <a:t>LLaMA</a:t>
            </a:r>
            <a:r>
              <a:rPr lang="en-US" sz="2000" dirty="0">
                <a:solidFill>
                  <a:srgbClr val="FF0000"/>
                </a:solidFill>
                <a:ea typeface="+mn-lt"/>
                <a:cs typeface="+mn-lt"/>
              </a:rPr>
              <a:t>, Mistral, and Gemma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Benefits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Achieves up to </a:t>
            </a:r>
            <a:r>
              <a:rPr lang="en-US" sz="2000" dirty="0">
                <a:solidFill>
                  <a:srgbClr val="FF0000"/>
                </a:solidFill>
                <a:ea typeface="+mn-lt"/>
                <a:cs typeface="+mn-lt"/>
              </a:rPr>
              <a:t>30x faster </a:t>
            </a:r>
            <a:r>
              <a:rPr lang="en-US" sz="2000" dirty="0">
                <a:ea typeface="+mn-lt"/>
                <a:cs typeface="+mn-lt"/>
              </a:rPr>
              <a:t>training speeds compared to traditional methods.</a:t>
            </a:r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  <a:ea typeface="+mn-lt"/>
                <a:cs typeface="+mn-lt"/>
              </a:rPr>
              <a:t>Reduces memory </a:t>
            </a:r>
            <a:r>
              <a:rPr lang="en-US" sz="2000" dirty="0">
                <a:ea typeface="+mn-lt"/>
                <a:cs typeface="+mn-lt"/>
              </a:rPr>
              <a:t>usage by up to </a:t>
            </a:r>
            <a:r>
              <a:rPr lang="en-US" sz="2000" dirty="0">
                <a:solidFill>
                  <a:srgbClr val="FF0000"/>
                </a:solidFill>
                <a:ea typeface="+mn-lt"/>
                <a:cs typeface="+mn-lt"/>
              </a:rPr>
              <a:t>90%</a:t>
            </a:r>
            <a:r>
              <a:rPr lang="en-US" sz="2000" dirty="0">
                <a:ea typeface="+mn-lt"/>
                <a:cs typeface="+mn-lt"/>
              </a:rPr>
              <a:t>, enabling fine-tuning on resource-constrained hardware.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Facilitates the fine-tuning process for users with limited computational resources.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7E19B-DC34-50B8-B374-6DBC125F2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877" y="275365"/>
            <a:ext cx="2639802" cy="106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022655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684CD-E9C3-B3E4-F9D5-6F0B0B0AE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96143-4459-97C8-95CD-A529345A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latin typeface="Aptos"/>
              </a:rPr>
              <a:t>3. </a:t>
            </a:r>
            <a:r>
              <a:rPr lang="en-US" sz="2000" b="1" dirty="0">
                <a:latin typeface="Aptos"/>
              </a:rPr>
              <a:t>Fine-Tuning with </a:t>
            </a:r>
            <a:r>
              <a:rPr lang="en-US" sz="2000" b="1" dirty="0" err="1">
                <a:latin typeface="Aptos"/>
              </a:rPr>
              <a:t>Unsloth</a:t>
            </a:r>
            <a:r>
              <a:rPr lang="en-US" sz="2000" b="1" dirty="0">
                <a:latin typeface="Aptos"/>
              </a:rPr>
              <a:t> &amp; </a:t>
            </a:r>
            <a:r>
              <a:rPr lang="en-US" sz="2000" b="1" dirty="0" err="1">
                <a:latin typeface="Aptos"/>
              </a:rPr>
              <a:t>LoRA</a:t>
            </a:r>
            <a:endParaRPr lang="en-US" sz="2000" dirty="0" err="1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46B0E-FDC1-93A2-9FC5-CAF08D9FA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0285"/>
            <a:ext cx="11224364" cy="48366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 err="1">
                <a:ea typeface="+mn-lt"/>
                <a:cs typeface="+mn-lt"/>
              </a:rPr>
              <a:t>LoRA</a:t>
            </a:r>
            <a:r>
              <a:rPr lang="en-US" sz="2400" b="1" dirty="0">
                <a:ea typeface="+mn-lt"/>
                <a:cs typeface="+mn-lt"/>
              </a:rPr>
              <a:t> Configuration</a:t>
            </a:r>
            <a:r>
              <a:rPr lang="en-US" sz="2400" dirty="0">
                <a:ea typeface="+mn-lt"/>
                <a:cs typeface="+mn-lt"/>
              </a:rPr>
              <a:t>:</a:t>
            </a:r>
            <a:endParaRPr lang="en-US" sz="2400" dirty="0"/>
          </a:p>
          <a:p>
            <a:pPr lvl="1"/>
            <a:r>
              <a:rPr lang="en-US" sz="2000" b="1" dirty="0">
                <a:ea typeface="+mn-lt"/>
                <a:cs typeface="+mn-lt"/>
              </a:rPr>
              <a:t>Rank (</a:t>
            </a:r>
            <a:r>
              <a:rPr lang="en-US" sz="2000" b="1" dirty="0">
                <a:latin typeface="Consolas"/>
              </a:rPr>
              <a:t>r</a:t>
            </a:r>
            <a:r>
              <a:rPr lang="en-US" sz="2000" b="1" dirty="0">
                <a:ea typeface="+mn-lt"/>
                <a:cs typeface="+mn-lt"/>
              </a:rPr>
              <a:t>)</a:t>
            </a:r>
            <a:r>
              <a:rPr lang="en-US" sz="2000" dirty="0">
                <a:ea typeface="+mn-lt"/>
                <a:cs typeface="+mn-lt"/>
              </a:rPr>
              <a:t>: 16</a:t>
            </a:r>
            <a:endParaRPr lang="en-US" sz="2000" dirty="0"/>
          </a:p>
          <a:p>
            <a:pPr lvl="1"/>
            <a:r>
              <a:rPr lang="en-US" sz="2000" b="1" dirty="0">
                <a:ea typeface="+mn-lt"/>
                <a:cs typeface="+mn-lt"/>
              </a:rPr>
              <a:t>Alpha (</a:t>
            </a:r>
            <a:r>
              <a:rPr lang="en-US" sz="2000" b="1" dirty="0" err="1">
                <a:latin typeface="Consolas"/>
              </a:rPr>
              <a:t>lora_alpha</a:t>
            </a:r>
            <a:r>
              <a:rPr lang="en-US" sz="2000" b="1" dirty="0">
                <a:ea typeface="+mn-lt"/>
                <a:cs typeface="+mn-lt"/>
              </a:rPr>
              <a:t>)</a:t>
            </a:r>
            <a:r>
              <a:rPr lang="en-US" sz="2000" dirty="0">
                <a:ea typeface="+mn-lt"/>
                <a:cs typeface="+mn-lt"/>
              </a:rPr>
              <a:t>: 16</a:t>
            </a:r>
            <a:endParaRPr lang="en-US" sz="2000" dirty="0"/>
          </a:p>
          <a:p>
            <a:pPr lvl="1"/>
            <a:r>
              <a:rPr lang="en-US" sz="2000" b="1" dirty="0">
                <a:ea typeface="+mn-lt"/>
                <a:cs typeface="+mn-lt"/>
              </a:rPr>
              <a:t>Dropout</a:t>
            </a:r>
            <a:r>
              <a:rPr lang="en-US" sz="2000" dirty="0">
                <a:ea typeface="+mn-lt"/>
                <a:cs typeface="+mn-lt"/>
              </a:rPr>
              <a:t>: 0.0</a:t>
            </a:r>
            <a:endParaRPr lang="en-US" sz="2000" dirty="0"/>
          </a:p>
          <a:p>
            <a:pPr lvl="1"/>
            <a:r>
              <a:rPr lang="en-US" sz="2000" b="1" dirty="0">
                <a:ea typeface="+mn-lt"/>
                <a:cs typeface="+mn-lt"/>
              </a:rPr>
              <a:t>Target Modules</a:t>
            </a:r>
            <a:r>
              <a:rPr lang="en-US" sz="2000" dirty="0">
                <a:ea typeface="+mn-lt"/>
                <a:cs typeface="+mn-lt"/>
              </a:rPr>
              <a:t>: Applied </a:t>
            </a:r>
            <a:r>
              <a:rPr lang="en-US" sz="2000" dirty="0" err="1">
                <a:ea typeface="+mn-lt"/>
                <a:cs typeface="+mn-lt"/>
              </a:rPr>
              <a:t>LoRA</a:t>
            </a:r>
            <a:r>
              <a:rPr lang="en-US" sz="2000" dirty="0">
                <a:ea typeface="+mn-lt"/>
                <a:cs typeface="+mn-lt"/>
              </a:rPr>
              <a:t> adapters to all linear layers, including query, key, value, and output projections.</a:t>
            </a:r>
            <a:endParaRPr lang="en-US" sz="2000" dirty="0"/>
          </a:p>
          <a:p>
            <a:r>
              <a:rPr lang="en-US" sz="2400" b="1" dirty="0">
                <a:ea typeface="+mn-lt"/>
                <a:cs typeface="+mn-lt"/>
              </a:rPr>
              <a:t>Training Parameters</a:t>
            </a:r>
            <a:r>
              <a:rPr lang="en-US" sz="2400" dirty="0">
                <a:ea typeface="+mn-lt"/>
                <a:cs typeface="+mn-lt"/>
              </a:rPr>
              <a:t>:</a:t>
            </a:r>
            <a:endParaRPr lang="en-US" sz="2400" dirty="0"/>
          </a:p>
          <a:p>
            <a:pPr lvl="1"/>
            <a:r>
              <a:rPr lang="en-US" sz="2000" b="1" dirty="0">
                <a:ea typeface="+mn-lt"/>
                <a:cs typeface="+mn-lt"/>
              </a:rPr>
              <a:t>Batch Size</a:t>
            </a:r>
            <a:r>
              <a:rPr lang="en-US" sz="2000" dirty="0">
                <a:ea typeface="+mn-lt"/>
                <a:cs typeface="+mn-lt"/>
              </a:rPr>
              <a:t>: 1</a:t>
            </a:r>
            <a:endParaRPr lang="en-US" sz="2000" dirty="0"/>
          </a:p>
          <a:p>
            <a:pPr lvl="1"/>
            <a:r>
              <a:rPr lang="en-US" sz="2000" b="1" dirty="0">
                <a:ea typeface="+mn-lt"/>
                <a:cs typeface="+mn-lt"/>
              </a:rPr>
              <a:t>Gradient Accumulation Steps</a:t>
            </a:r>
            <a:r>
              <a:rPr lang="en-US" sz="2000" dirty="0">
                <a:ea typeface="+mn-lt"/>
                <a:cs typeface="+mn-lt"/>
              </a:rPr>
              <a:t>: 4</a:t>
            </a:r>
            <a:endParaRPr lang="en-US" sz="2000" dirty="0"/>
          </a:p>
          <a:p>
            <a:pPr lvl="1"/>
            <a:r>
              <a:rPr lang="en-US" sz="2000" b="1" dirty="0">
                <a:solidFill>
                  <a:srgbClr val="FF0000"/>
                </a:solidFill>
                <a:ea typeface="+mn-lt"/>
                <a:cs typeface="+mn-lt"/>
              </a:rPr>
              <a:t>Epochs</a:t>
            </a:r>
            <a:r>
              <a:rPr lang="en-US" sz="2000" dirty="0">
                <a:solidFill>
                  <a:srgbClr val="FF0000"/>
                </a:solidFill>
                <a:ea typeface="+mn-lt"/>
                <a:cs typeface="+mn-lt"/>
              </a:rPr>
              <a:t>: 3</a:t>
            </a:r>
            <a:endParaRPr lang="en-US" sz="2000" dirty="0">
              <a:solidFill>
                <a:srgbClr val="FF0000"/>
              </a:solidFill>
            </a:endParaRPr>
          </a:p>
          <a:p>
            <a:pPr lvl="1"/>
            <a:r>
              <a:rPr lang="en-US" sz="2000" b="1" dirty="0">
                <a:ea typeface="+mn-lt"/>
                <a:cs typeface="+mn-lt"/>
              </a:rPr>
              <a:t>Learning Rate</a:t>
            </a:r>
            <a:r>
              <a:rPr lang="en-US" sz="2000" dirty="0">
                <a:ea typeface="+mn-lt"/>
                <a:cs typeface="+mn-lt"/>
              </a:rPr>
              <a:t>: 5e-5</a:t>
            </a:r>
            <a:endParaRPr lang="en-US" sz="2000" dirty="0"/>
          </a:p>
          <a:p>
            <a:pPr lvl="1"/>
            <a:r>
              <a:rPr lang="en-US" sz="2000" b="1" dirty="0">
                <a:ea typeface="+mn-lt"/>
                <a:cs typeface="+mn-lt"/>
              </a:rPr>
              <a:t>Max Sequence Length</a:t>
            </a:r>
            <a:r>
              <a:rPr lang="en-US" sz="2000" dirty="0">
                <a:ea typeface="+mn-lt"/>
                <a:cs typeface="+mn-lt"/>
              </a:rPr>
              <a:t>: 2048 tokens</a:t>
            </a:r>
            <a:endParaRPr lang="en-US" sz="2000" dirty="0"/>
          </a:p>
          <a:p>
            <a:r>
              <a:rPr lang="en-US" sz="2400" b="1" dirty="0">
                <a:ea typeface="+mn-lt"/>
                <a:cs typeface="+mn-lt"/>
              </a:rPr>
              <a:t>Hardware</a:t>
            </a:r>
            <a:r>
              <a:rPr lang="en-US" sz="2400" dirty="0">
                <a:ea typeface="+mn-lt"/>
                <a:cs typeface="+mn-lt"/>
              </a:rPr>
              <a:t>: Training implemented on Google Colab Pro with NVIDIA A100 GPU.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9200358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91690-09C7-DF20-8F37-50809099F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Aptos"/>
              </a:rPr>
              <a:t>4. </a:t>
            </a:r>
            <a:r>
              <a:rPr lang="en-US" sz="2800" b="1" dirty="0">
                <a:latin typeface="Aptos"/>
              </a:rPr>
              <a:t>Evaluation</a:t>
            </a:r>
            <a:endParaRPr lang="en-US" sz="2800" dirty="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2177B-7730-3073-738D-B4AF1FCA1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465" y="1277656"/>
            <a:ext cx="6627014" cy="2580662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Quantitative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lvl="1"/>
            <a:r>
              <a:rPr lang="en-US" b="1" dirty="0">
                <a:ea typeface="+mn-lt"/>
                <a:cs typeface="+mn-lt"/>
              </a:rPr>
              <a:t>BLEU Score</a:t>
            </a:r>
            <a:r>
              <a:rPr lang="en-US" dirty="0">
                <a:ea typeface="+mn-lt"/>
                <a:cs typeface="+mn-lt"/>
              </a:rPr>
              <a:t>: Measures the overlap between the model's output and reference answers.</a:t>
            </a:r>
            <a:endParaRPr lang="en-US" dirty="0"/>
          </a:p>
          <a:p>
            <a:pPr lvl="1"/>
            <a:r>
              <a:rPr lang="en-US" b="1" dirty="0">
                <a:ea typeface="+mn-lt"/>
                <a:cs typeface="+mn-lt"/>
              </a:rPr>
              <a:t>ROUGE Scores</a:t>
            </a:r>
            <a:r>
              <a:rPr lang="en-US" dirty="0">
                <a:ea typeface="+mn-lt"/>
                <a:cs typeface="+mn-lt"/>
              </a:rPr>
              <a:t>: ROUGE-1, ROUGE-2, and ROUGE-L to assess recall-oriented understanding.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Qualitative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Manual evaluation focusing on the legal accuracy and relevance of the model's responses.</a:t>
            </a:r>
            <a:endParaRPr lang="en-US" dirty="0"/>
          </a:p>
          <a:p>
            <a:pPr lvl="1"/>
            <a:endParaRPr lang="en-US" dirty="0"/>
          </a:p>
          <a:p>
            <a:pPr marL="0" lvl="1" indent="0">
              <a:buNone/>
            </a:pPr>
            <a:r>
              <a:rPr lang="en-US" sz="2900" b="1" dirty="0"/>
              <a:t>Performance Comparison: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4" descr="Generated image">
            <a:extLst>
              <a:ext uri="{FF2B5EF4-FFF2-40B4-BE49-F238E27FC236}">
                <a16:creationId xmlns:a16="http://schemas.microsoft.com/office/drawing/2014/main" id="{F8DEC450-4894-5D87-E818-5C1589B3C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6167" y="581968"/>
            <a:ext cx="3146680" cy="3146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401D94-40E2-4DBC-36C9-333E314F2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080736"/>
              </p:ext>
            </p:extLst>
          </p:nvPr>
        </p:nvGraphicFramePr>
        <p:xfrm>
          <a:off x="682668" y="4028682"/>
          <a:ext cx="10734805" cy="19719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84751">
                  <a:extLst>
                    <a:ext uri="{9D8B030D-6E8A-4147-A177-3AD203B41FA5}">
                      <a16:colId xmlns:a16="http://schemas.microsoft.com/office/drawing/2014/main" val="868998366"/>
                    </a:ext>
                  </a:extLst>
                </a:gridCol>
                <a:gridCol w="669165">
                  <a:extLst>
                    <a:ext uri="{9D8B030D-6E8A-4147-A177-3AD203B41FA5}">
                      <a16:colId xmlns:a16="http://schemas.microsoft.com/office/drawing/2014/main" val="3476808521"/>
                    </a:ext>
                  </a:extLst>
                </a:gridCol>
                <a:gridCol w="871537">
                  <a:extLst>
                    <a:ext uri="{9D8B030D-6E8A-4147-A177-3AD203B41FA5}">
                      <a16:colId xmlns:a16="http://schemas.microsoft.com/office/drawing/2014/main" val="1605877732"/>
                    </a:ext>
                  </a:extLst>
                </a:gridCol>
                <a:gridCol w="958241">
                  <a:extLst>
                    <a:ext uri="{9D8B030D-6E8A-4147-A177-3AD203B41FA5}">
                      <a16:colId xmlns:a16="http://schemas.microsoft.com/office/drawing/2014/main" val="1242319250"/>
                    </a:ext>
                  </a:extLst>
                </a:gridCol>
                <a:gridCol w="883085">
                  <a:extLst>
                    <a:ext uri="{9D8B030D-6E8A-4147-A177-3AD203B41FA5}">
                      <a16:colId xmlns:a16="http://schemas.microsoft.com/office/drawing/2014/main" val="84049460"/>
                    </a:ext>
                  </a:extLst>
                </a:gridCol>
                <a:gridCol w="5668026">
                  <a:extLst>
                    <a:ext uri="{9D8B030D-6E8A-4147-A177-3AD203B41FA5}">
                      <a16:colId xmlns:a16="http://schemas.microsoft.com/office/drawing/2014/main" val="17369222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Model</a:t>
                      </a:r>
                    </a:p>
                  </a:txBody>
                  <a:tcPr marL="28627" marR="28627" marT="14314" marB="1431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BLEU</a:t>
                      </a:r>
                    </a:p>
                  </a:txBody>
                  <a:tcPr marL="28627" marR="28627" marT="14314" marB="1431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ROUGE-1</a:t>
                      </a:r>
                    </a:p>
                  </a:txBody>
                  <a:tcPr marL="28627" marR="28627" marT="14314" marB="1431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ROUGE-2</a:t>
                      </a:r>
                    </a:p>
                  </a:txBody>
                  <a:tcPr marL="28627" marR="28627" marT="14314" marB="1431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ROUGE-L</a:t>
                      </a:r>
                    </a:p>
                  </a:txBody>
                  <a:tcPr marL="28627" marR="28627" marT="14314" marB="1431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</a:rPr>
                        <a:t>Comments</a:t>
                      </a:r>
                    </a:p>
                  </a:txBody>
                  <a:tcPr marL="28627" marR="28627" marT="14314" marB="1431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950048"/>
                  </a:ext>
                </a:extLst>
              </a:tr>
              <a:tr h="342848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LLaMA 3.1</a:t>
                      </a:r>
                      <a:endParaRPr lang="en-US" sz="1200">
                        <a:effectLst/>
                      </a:endParaRP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0.058</a:t>
                      </a: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0.026</a:t>
                      </a: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0.000</a:t>
                      </a: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0.026</a:t>
                      </a: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</a:rPr>
                        <a:t>Extremely poor performance without fine-tuning</a:t>
                      </a:r>
                      <a:r>
                        <a:rPr lang="en-US" sz="1200" dirty="0">
                          <a:effectLst/>
                        </a:rPr>
                        <a:t>; unable to generate legally relevant or structurally correct outputs; near-random bigram matches.</a:t>
                      </a:r>
                    </a:p>
                  </a:txBody>
                  <a:tcPr marL="28627" marR="28627" marT="14314" marB="14314" anchor="ctr"/>
                </a:tc>
                <a:extLst>
                  <a:ext uri="{0D108BD9-81ED-4DB2-BD59-A6C34878D82A}">
                    <a16:rowId xmlns:a16="http://schemas.microsoft.com/office/drawing/2014/main" val="3875853056"/>
                  </a:ext>
                </a:extLst>
              </a:tr>
              <a:tr h="3731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LLaMA 3.1 Instruct</a:t>
                      </a:r>
                      <a:endParaRPr lang="en-US" sz="1200">
                        <a:effectLst/>
                      </a:endParaRP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0.128</a:t>
                      </a: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0.070</a:t>
                      </a: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0.013</a:t>
                      </a: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0.070</a:t>
                      </a: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Instruction-tuned variant shows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</a:rPr>
                        <a:t>moderate improvement</a:t>
                      </a:r>
                      <a:r>
                        <a:rPr lang="en-US" sz="1200" dirty="0">
                          <a:effectLst/>
                        </a:rPr>
                        <a:t>, suggesting some general ability to follow question prompts, but lacks domain adaptation.</a:t>
                      </a:r>
                    </a:p>
                  </a:txBody>
                  <a:tcPr marL="28627" marR="28627" marT="14314" marB="14314" anchor="ctr"/>
                </a:tc>
                <a:extLst>
                  <a:ext uri="{0D108BD9-81ED-4DB2-BD59-A6C34878D82A}">
                    <a16:rowId xmlns:a16="http://schemas.microsoft.com/office/drawing/2014/main" val="1192260773"/>
                  </a:ext>
                </a:extLst>
              </a:tr>
              <a:tr h="342848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070C0"/>
                          </a:solidFill>
                          <a:effectLst/>
                        </a:rPr>
                        <a:t>Fine-tuned LLaMA 3.1</a:t>
                      </a: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  <a:effectLst/>
                        </a:rPr>
                        <a:t>0.290</a:t>
                      </a: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  <a:effectLst/>
                        </a:rPr>
                        <a:t>0.081</a:t>
                      </a: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70C0"/>
                          </a:solidFill>
                          <a:effectLst/>
                        </a:rPr>
                        <a:t>0.020</a:t>
                      </a: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  <a:effectLst/>
                        </a:rPr>
                        <a:t>0.081</a:t>
                      </a: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</a:rPr>
                        <a:t>Substantial improvement after fine-tuning</a:t>
                      </a:r>
                      <a:r>
                        <a:rPr lang="en-US" sz="1200" dirty="0">
                          <a:effectLst/>
                        </a:rPr>
                        <a:t>; highest BLEU, ROUGE-1, and ROUGE-L scores; shows better legal understanding and context relevance.</a:t>
                      </a:r>
                    </a:p>
                  </a:txBody>
                  <a:tcPr marL="28627" marR="28627" marT="14314" marB="14314" anchor="ctr"/>
                </a:tc>
                <a:extLst>
                  <a:ext uri="{0D108BD9-81ED-4DB2-BD59-A6C34878D82A}">
                    <a16:rowId xmlns:a16="http://schemas.microsoft.com/office/drawing/2014/main" val="672451441"/>
                  </a:ext>
                </a:extLst>
              </a:tr>
              <a:tr h="433602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Fine-tuned LLaMA 3.1 Instruct</a:t>
                      </a:r>
                      <a:endParaRPr lang="en-US" sz="1200">
                        <a:effectLst/>
                      </a:endParaRP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0.270</a:t>
                      </a: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0.063</a:t>
                      </a: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0.005</a:t>
                      </a: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0.063</a:t>
                      </a:r>
                    </a:p>
                  </a:txBody>
                  <a:tcPr marL="28627" marR="28627" marT="14314" marB="1431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Fine-tuned Instruct variant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</a:rPr>
                        <a:t>improves over its base version but underperforms compared to fine-tuned standard </a:t>
                      </a:r>
                      <a:r>
                        <a:rPr lang="en-US" sz="1200" dirty="0" err="1">
                          <a:solidFill>
                            <a:srgbClr val="FF0000"/>
                          </a:solidFill>
                          <a:effectLst/>
                        </a:rPr>
                        <a:t>LLaMA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</a:rPr>
                        <a:t> 3.1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>
                          <a:solidFill>
                            <a:srgbClr val="00B050"/>
                          </a:solidFill>
                          <a:effectLst/>
                        </a:rPr>
                        <a:t>likely due to conflicting prior instruction biases.</a:t>
                      </a:r>
                    </a:p>
                  </a:txBody>
                  <a:tcPr marL="28627" marR="28627" marT="14314" marB="14314" anchor="ctr"/>
                </a:tc>
                <a:extLst>
                  <a:ext uri="{0D108BD9-81ED-4DB2-BD59-A6C34878D82A}">
                    <a16:rowId xmlns:a16="http://schemas.microsoft.com/office/drawing/2014/main" val="2696761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692924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AE741-B93C-E8B9-395A-AB68F40E4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Insights, Most Important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72ED1-C3E3-7525-20A6-824FA3035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0285"/>
            <a:ext cx="11017738" cy="4836678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1800" b="1" dirty="0"/>
              <a:t>Fine-tuning greatly enhances performance</a:t>
            </a:r>
            <a:r>
              <a:rPr lang="en-US" sz="1800" dirty="0"/>
              <a:t> across all metrics, particularly BLEU and ROUGE-1, confirming that domain-specific training is crucial for legal QA tasks.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ROUGE-2 scores remain low across all models</a:t>
            </a:r>
            <a:r>
              <a:rPr lang="en-US" sz="1800" dirty="0"/>
              <a:t>, which is consistent with expectations in open-ended, domain-specific QA. This reinforces the need for complementary manual evaluation.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Fine-tuned models show better recall (ROUGE-1 and ROUGE-L)</a:t>
            </a:r>
            <a:r>
              <a:rPr lang="en-US" sz="1800" dirty="0"/>
              <a:t>, suggesting improved coverage of key concepts in legal responses, even when exact phrasing varies.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FF0000"/>
                </a:solidFill>
              </a:rPr>
              <a:t>Standard </a:t>
            </a:r>
            <a:r>
              <a:rPr lang="en-US" sz="1800" b="1" dirty="0" err="1">
                <a:solidFill>
                  <a:srgbClr val="FF0000"/>
                </a:solidFill>
              </a:rPr>
              <a:t>LLaMA</a:t>
            </a:r>
            <a:r>
              <a:rPr lang="en-US" sz="1800" b="1" dirty="0">
                <a:solidFill>
                  <a:srgbClr val="FF0000"/>
                </a:solidFill>
              </a:rPr>
              <a:t> 3.1 outperforms the Instruct variant </a:t>
            </a:r>
            <a:r>
              <a:rPr lang="en-US" sz="1800" b="1" dirty="0"/>
              <a:t>after fine-tuning</a:t>
            </a:r>
            <a:r>
              <a:rPr lang="en-US" sz="1800" dirty="0"/>
              <a:t>, indicating that starting from a neutral base model can sometimes be more advantageous for specialized tasks, likely because it avoids inherited biases from general instruction tuning.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FF0000"/>
                </a:solidFill>
              </a:rPr>
              <a:t>Scarcity of Labeled Dataset can be effectively mitigated using GenAI, </a:t>
            </a:r>
            <a:r>
              <a:rPr lang="en-US" sz="1800" dirty="0"/>
              <a:t>so much potentials in this area.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BDDAA3B-BBD0-CB2C-547D-D86EE1B8821A}"/>
              </a:ext>
            </a:extLst>
          </p:cNvPr>
          <p:cNvSpPr txBox="1">
            <a:spLocks/>
          </p:cNvSpPr>
          <p:nvPr/>
        </p:nvSpPr>
        <p:spPr>
          <a:xfrm>
            <a:off x="737992" y="5591328"/>
            <a:ext cx="8781789" cy="58563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ea typeface="+mn-lt"/>
                <a:cs typeface="+mn-lt"/>
              </a:rPr>
              <a:t>GitHub Repository</a:t>
            </a:r>
            <a:r>
              <a:rPr lang="en-US" sz="2400" dirty="0">
                <a:ea typeface="+mn-lt"/>
                <a:cs typeface="+mn-lt"/>
              </a:rPr>
              <a:t>: </a:t>
            </a:r>
            <a:r>
              <a:rPr lang="en-US" sz="2400" dirty="0">
                <a:ea typeface="+mn-lt"/>
                <a:cs typeface="+mn-lt"/>
                <a:hlinkClick r:id="rId2"/>
              </a:rPr>
              <a:t>https://github.com/msfasha/ArabicLegalLLM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C92F18-4077-7D9C-7623-2A2811217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882" y="4912766"/>
            <a:ext cx="1763665" cy="171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223993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5F687F-725A-40B5-36F2-33ED4D8427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8E54E89-BE05-9721-1EC5-CEA558EC8B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894141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71B5E23-7281-F72B-F478-8057E59299C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182880" y="664445"/>
            <a:ext cx="11704320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June 2018: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OpenAI releases the first generation of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GPT (Generative Pre-trained Transformer)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showcasing the potential of transformer-based architectures for language tasks.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February 2019: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OpenAI announces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GPT-2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demonstrating significantly improved text generation capabilities compared to its predecessor. Its release strategy involved a staged rollout due to concerns about potential misuse.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June 2020: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OpenAI launches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GPT-3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much larger model with 175 billion parameters, exhibiting remarkable abilities in various language understanding and generation tasks. Access was initially through an API.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2021: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announces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LaMDA (Language Model for Dialogue Applications)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highlighting its focus on conversational AI and its ability to engage in more natural and context-aware dialogues.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April 2022: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introduces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PaLM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(Pathways Language Model)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large-scale model demonstrating advancements in reasoning, code generation, and multilingual understanding.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April 2022: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DeepMind unveils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Chinchilla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emphasizing the importance of training on more data for a given model size, achieving state-of-the-art performance with fewer parameters than some contemporaries.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November 30, 2022: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OpenAI publicly launches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ChatGPT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conversational AI based on the GPT-3.5 architecture. Its user-friendly interface and impressive dialogue capabilities lead to widespread public attention.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February 24, 2023: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Meta AI introduces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 1 (Large Language Model Meta AI)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emphasizing open access for the research community and efficient inference.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March 2023: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OpenAI releases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GPT-4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next generation of their large language model, showcasing enhanced capabilities in reasoning, creativity, and handling multimodal inputs (though initially text-only for most users).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July 2023: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Meta and Microsoft announce the open-source release of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 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a focus on commercial usability and further expanding access to advanced LLM technology.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December 2023: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launches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Gemini 1.0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multimodal model claimed to outperform previous models in various benchmarks.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February 2024: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OpenAI introduces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text-to-video generative AI model, demonstrating capabilities beyond language.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April 2024: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releases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Gemini 1.5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featuring a significantly expanded context window, allowing it to process vast amounts of information.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April 2025: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Various companies continue to release and refine new models and features, focusing on aspects like efficiency, multimodality, reasoning, and real-world applications. As of today, April 28, 2025, the field is still rapidly evolving with ongoing research and development. </a:t>
            </a:r>
          </a:p>
        </p:txBody>
      </p:sp>
    </p:spTree>
    <p:extLst>
      <p:ext uri="{BB962C8B-B14F-4D97-AF65-F5344CB8AC3E}">
        <p14:creationId xmlns:p14="http://schemas.microsoft.com/office/powerpoint/2010/main" val="2464302766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77689F-D6A3-03F8-2035-54A7B6379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28" y="1180787"/>
            <a:ext cx="4276148" cy="35101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7F83BD-7C99-B610-02E9-1B88A1C94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189" y="1180787"/>
            <a:ext cx="5829535" cy="3730110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98B9CA39-E129-3039-0A3C-729517244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PEFT-LORA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087581-9637-BEB5-FBD0-9046500C9B31}"/>
              </a:ext>
            </a:extLst>
          </p:cNvPr>
          <p:cNvSpPr txBox="1"/>
          <p:nvPr/>
        </p:nvSpPr>
        <p:spPr>
          <a:xfrm>
            <a:off x="386828" y="5177547"/>
            <a:ext cx="92042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Summary</a:t>
            </a:r>
            <a:r>
              <a:rPr lang="en-US" dirty="0"/>
              <a:t>:</a:t>
            </a:r>
          </a:p>
          <a:p>
            <a:pPr marL="169863" indent="-169863">
              <a:buFont typeface="Arial" panose="020B0604020202020204" pitchFamily="34" charset="0"/>
              <a:buChar char="•"/>
              <a:tabLst>
                <a:tab pos="115888" algn="l"/>
              </a:tabLst>
            </a:pPr>
            <a:r>
              <a:rPr lang="en-US" b="1" dirty="0"/>
              <a:t>Training</a:t>
            </a:r>
            <a:r>
              <a:rPr lang="en-US" dirty="0"/>
              <a:t>: Freeze big weights W0W_0W0​, train small matrices AAA and BBB.</a:t>
            </a:r>
          </a:p>
          <a:p>
            <a:pPr marL="169863" indent="-169863">
              <a:buFont typeface="Arial" panose="020B0604020202020204" pitchFamily="34" charset="0"/>
              <a:buChar char="•"/>
              <a:tabLst>
                <a:tab pos="115888" algn="l"/>
              </a:tabLst>
            </a:pPr>
            <a:r>
              <a:rPr lang="en-US" b="1" dirty="0"/>
              <a:t>Inference</a:t>
            </a:r>
            <a:r>
              <a:rPr lang="en-US" dirty="0"/>
              <a:t>: Merge into W′W'W′, no extra cost.</a:t>
            </a:r>
          </a:p>
          <a:p>
            <a:pPr marL="169863" indent="-169863">
              <a:buFont typeface="Arial" panose="020B0604020202020204" pitchFamily="34" charset="0"/>
              <a:buChar char="•"/>
              <a:tabLst>
                <a:tab pos="115888" algn="l"/>
              </a:tabLst>
            </a:pPr>
            <a:r>
              <a:rPr lang="en-US" b="1" dirty="0"/>
              <a:t>Goal</a:t>
            </a:r>
            <a:r>
              <a:rPr lang="en-US" dirty="0"/>
              <a:t>: Efficient fine-tuning with fewer parameters.</a:t>
            </a:r>
          </a:p>
        </p:txBody>
      </p:sp>
    </p:spTree>
    <p:extLst>
      <p:ext uri="{BB962C8B-B14F-4D97-AF65-F5344CB8AC3E}">
        <p14:creationId xmlns:p14="http://schemas.microsoft.com/office/powerpoint/2010/main" val="3118626317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FD7AE-E4DF-B2ED-31F3-571A9B1A3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5CE24D-02C8-14BA-0D47-63D065541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79" y="205718"/>
            <a:ext cx="4969016" cy="49833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D0F724-5894-5DCB-FFFE-C92D7C90D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417" y="344291"/>
            <a:ext cx="4972812" cy="369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663558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EECCEE-743F-D167-218C-B2F7C021F41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93288" y="165255"/>
            <a:ext cx="4826488" cy="654777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229207-330B-FEAC-05C2-017C9A88B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092" y="221383"/>
            <a:ext cx="5326893" cy="421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931506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348</TotalTime>
  <Words>2364</Words>
  <Application>Microsoft Office PowerPoint</Application>
  <PresentationFormat>Widescreen</PresentationFormat>
  <Paragraphs>249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Consolas</vt:lpstr>
      <vt:lpstr>Times New Roman</vt:lpstr>
      <vt:lpstr>office theme</vt:lpstr>
      <vt:lpstr>PowerPoint Presentation</vt:lpstr>
      <vt:lpstr>Parameter-Efficient Fine-Tuning of LLaMA 3.1 for Arabic Legal Question Answering: A Case Study on Jordanian Laws</vt:lpstr>
      <vt:lpstr>Research Objectives</vt:lpstr>
      <vt:lpstr>Methodology</vt:lpstr>
      <vt:lpstr>1. Data Collection &amp; Preparation</vt:lpstr>
      <vt:lpstr>1. Data Collection &amp; Preparation</vt:lpstr>
      <vt:lpstr>2. Models Selection - LLaMA and LLaMA 3.1 Models</vt:lpstr>
      <vt:lpstr>2. Models Selection - LLaMA and LLaMA 3.1 Models</vt:lpstr>
      <vt:lpstr>Quantization in LLMs</vt:lpstr>
      <vt:lpstr>Parameter-Efficient Fine-Tuning (PEFT) and LoRA</vt:lpstr>
      <vt:lpstr>3. Fine-Tuning with Unsloth &amp; LoRA</vt:lpstr>
      <vt:lpstr>3. Fine-Tuning with Unsloth &amp; LoRA</vt:lpstr>
      <vt:lpstr>4. Evaluation</vt:lpstr>
      <vt:lpstr>Insights, Most Important Observations</vt:lpstr>
      <vt:lpstr>Thank You</vt:lpstr>
      <vt:lpstr>PowerPoint Presentation</vt:lpstr>
      <vt:lpstr>PEFT-LORA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Mohammed Fasha</cp:lastModifiedBy>
  <cp:revision>205</cp:revision>
  <dcterms:created xsi:type="dcterms:W3CDTF">2025-04-26T08:24:39Z</dcterms:created>
  <dcterms:modified xsi:type="dcterms:W3CDTF">2025-04-29T07:27:18Z</dcterms:modified>
</cp:coreProperties>
</file>